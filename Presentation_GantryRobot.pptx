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9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71937" y="4186237"/>
            <a:ext cx="4048124" cy="4667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65238" y="2164905"/>
            <a:ext cx="8261523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0368A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0368A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0368A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0368A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449834"/>
            <a:ext cx="4566920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0368A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3400" y="2409507"/>
            <a:ext cx="11125835" cy="2846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factoryio.com/" TargetMode="External"/><Relationship Id="rId3" Type="http://schemas.openxmlformats.org/officeDocument/2006/relationships/image" Target="../media/image26.png"/><Relationship Id="rId7" Type="http://schemas.openxmlformats.org/officeDocument/2006/relationships/hyperlink" Target="https://cdn.automationforum.co/uploads/2023/08/tia-portal-21-scaled.jpg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boschrexroth.com/" TargetMode="External"/><Relationship Id="rId5" Type="http://schemas.openxmlformats.org/officeDocument/2006/relationships/hyperlink" Target="https://assets.rexroth.mam.bosch.tech/assets/api/acbcfafd-4781-4241-ad24-6decaab9b398/dc_ecommerce_big_j" TargetMode="Externa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3425" y="2407890"/>
            <a:ext cx="3105149" cy="3047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929446" y="2869153"/>
            <a:ext cx="8333105" cy="1429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200" spc="-90" dirty="0">
                <a:solidFill>
                  <a:srgbClr val="0F172A"/>
                </a:solidFill>
              </a:rPr>
              <a:t>Assembly</a:t>
            </a:r>
            <a:r>
              <a:rPr sz="4200" spc="-465" dirty="0">
                <a:solidFill>
                  <a:srgbClr val="0F172A"/>
                </a:solidFill>
              </a:rPr>
              <a:t> </a:t>
            </a:r>
            <a:r>
              <a:rPr sz="4200" spc="-225" dirty="0">
                <a:solidFill>
                  <a:srgbClr val="0F172A"/>
                </a:solidFill>
              </a:rPr>
              <a:t>Unit</a:t>
            </a:r>
            <a:r>
              <a:rPr sz="4200" spc="-459" dirty="0">
                <a:solidFill>
                  <a:srgbClr val="0F172A"/>
                </a:solidFill>
              </a:rPr>
              <a:t> </a:t>
            </a:r>
            <a:r>
              <a:rPr sz="4200" spc="-105" dirty="0">
                <a:solidFill>
                  <a:srgbClr val="0F172A"/>
                </a:solidFill>
              </a:rPr>
              <a:t>Control</a:t>
            </a:r>
            <a:r>
              <a:rPr sz="4200" spc="-465" dirty="0">
                <a:solidFill>
                  <a:srgbClr val="0F172A"/>
                </a:solidFill>
              </a:rPr>
              <a:t> </a:t>
            </a:r>
            <a:r>
              <a:rPr sz="4200" spc="-75" dirty="0">
                <a:solidFill>
                  <a:srgbClr val="0F172A"/>
                </a:solidFill>
              </a:rPr>
              <a:t>System</a:t>
            </a:r>
            <a:endParaRPr sz="4200" dirty="0"/>
          </a:p>
          <a:p>
            <a:pPr marL="147955" marR="144780" algn="ctr">
              <a:lnSpc>
                <a:spcPct val="150000"/>
              </a:lnSpc>
              <a:spcBef>
                <a:spcPts val="400"/>
              </a:spcBef>
            </a:pPr>
            <a:r>
              <a:rPr sz="1650" dirty="0">
                <a:solidFill>
                  <a:srgbClr val="475568"/>
                </a:solidFill>
                <a:latin typeface="Roboto"/>
                <a:cs typeface="Roboto"/>
              </a:rPr>
              <a:t>PLC</a:t>
            </a:r>
            <a:r>
              <a:rPr sz="1650" spc="-4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60" dirty="0">
                <a:solidFill>
                  <a:srgbClr val="475568"/>
                </a:solidFill>
                <a:latin typeface="Roboto"/>
                <a:cs typeface="Roboto"/>
              </a:rPr>
              <a:t>S7-</a:t>
            </a:r>
            <a:r>
              <a:rPr sz="1650" spc="-40" dirty="0">
                <a:solidFill>
                  <a:srgbClr val="475568"/>
                </a:solidFill>
                <a:latin typeface="Roboto"/>
                <a:cs typeface="Roboto"/>
              </a:rPr>
              <a:t>300 </a:t>
            </a:r>
            <a:r>
              <a:rPr sz="1650" spc="-10" dirty="0">
                <a:solidFill>
                  <a:srgbClr val="475568"/>
                </a:solidFill>
                <a:latin typeface="Roboto"/>
                <a:cs typeface="Roboto"/>
              </a:rPr>
              <a:t>Implementation</a:t>
            </a:r>
            <a:r>
              <a:rPr sz="1650" spc="-4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75568"/>
                </a:solidFill>
                <a:latin typeface="Roboto"/>
                <a:cs typeface="Roboto"/>
              </a:rPr>
              <a:t>&amp;</a:t>
            </a:r>
            <a:r>
              <a:rPr sz="1650" spc="-40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75568"/>
                </a:solidFill>
                <a:latin typeface="Roboto"/>
                <a:cs typeface="Roboto"/>
              </a:rPr>
              <a:t>3D</a:t>
            </a:r>
            <a:r>
              <a:rPr sz="1650" spc="-40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20" dirty="0">
                <a:solidFill>
                  <a:srgbClr val="475568"/>
                </a:solidFill>
                <a:latin typeface="Roboto"/>
                <a:cs typeface="Roboto"/>
              </a:rPr>
              <a:t>Digital</a:t>
            </a:r>
            <a:r>
              <a:rPr sz="1650" spc="-70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75568"/>
                </a:solidFill>
                <a:latin typeface="Roboto"/>
                <a:cs typeface="Roboto"/>
              </a:rPr>
              <a:t>Twin</a:t>
            </a:r>
            <a:r>
              <a:rPr sz="1650" spc="-4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20" dirty="0">
                <a:solidFill>
                  <a:srgbClr val="475568"/>
                </a:solidFill>
                <a:latin typeface="Roboto"/>
                <a:cs typeface="Roboto"/>
              </a:rPr>
              <a:t>Simulation</a:t>
            </a:r>
            <a:r>
              <a:rPr sz="1650" spc="-40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75568"/>
                </a:solidFill>
                <a:latin typeface="Roboto"/>
                <a:cs typeface="Roboto"/>
              </a:rPr>
              <a:t>in</a:t>
            </a:r>
            <a:r>
              <a:rPr sz="1650" spc="-70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75568"/>
                </a:solidFill>
                <a:latin typeface="Roboto"/>
                <a:cs typeface="Roboto"/>
              </a:rPr>
              <a:t>TIA</a:t>
            </a:r>
            <a:r>
              <a:rPr sz="1650" spc="-40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75568"/>
                </a:solidFill>
                <a:latin typeface="Roboto"/>
                <a:cs typeface="Roboto"/>
              </a:rPr>
              <a:t>Portal</a:t>
            </a:r>
            <a:r>
              <a:rPr sz="1650" spc="-40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75568"/>
                </a:solidFill>
                <a:latin typeface="Roboto"/>
                <a:cs typeface="Roboto"/>
              </a:rPr>
              <a:t>V</a:t>
            </a:r>
            <a:r>
              <a:rPr lang="ru-RU" sz="1650" dirty="0">
                <a:solidFill>
                  <a:srgbClr val="475568"/>
                </a:solidFill>
                <a:latin typeface="Roboto"/>
                <a:cs typeface="Roboto"/>
              </a:rPr>
              <a:t>20</a:t>
            </a:r>
            <a:r>
              <a:rPr sz="1650" spc="-4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75568"/>
                </a:solidFill>
                <a:latin typeface="Roboto"/>
                <a:cs typeface="Roboto"/>
              </a:rPr>
              <a:t>and</a:t>
            </a:r>
            <a:r>
              <a:rPr sz="1650" spc="-40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75568"/>
                </a:solidFill>
                <a:latin typeface="Roboto"/>
                <a:cs typeface="Roboto"/>
              </a:rPr>
              <a:t>Factory </a:t>
            </a:r>
            <a:r>
              <a:rPr sz="1650" spc="-25" dirty="0">
                <a:solidFill>
                  <a:srgbClr val="475568"/>
                </a:solidFill>
                <a:latin typeface="Roboto"/>
                <a:cs typeface="Roboto"/>
              </a:rPr>
              <a:t>I/O</a:t>
            </a:r>
            <a:endParaRPr sz="165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24500" y="2652711"/>
            <a:ext cx="1143000" cy="38100"/>
          </a:xfrm>
          <a:custGeom>
            <a:avLst/>
            <a:gdLst/>
            <a:ahLst/>
            <a:cxnLst/>
            <a:rect l="l" t="t" r="r" b="b"/>
            <a:pathLst>
              <a:path w="1143000" h="38100">
                <a:moveTo>
                  <a:pt x="1142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142999" y="0"/>
                </a:lnTo>
                <a:lnTo>
                  <a:pt x="1142999" y="38099"/>
                </a:lnTo>
                <a:close/>
              </a:path>
            </a:pathLst>
          </a:custGeom>
          <a:solidFill>
            <a:srgbClr val="0284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73081" y="2886138"/>
            <a:ext cx="7639684" cy="1438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100"/>
              </a:spcBef>
            </a:pPr>
            <a:r>
              <a:rPr sz="4050" spc="-145" dirty="0"/>
              <a:t>System</a:t>
            </a:r>
            <a:r>
              <a:rPr sz="4050" spc="-465" dirty="0"/>
              <a:t> </a:t>
            </a:r>
            <a:r>
              <a:rPr sz="4050" spc="-135" dirty="0"/>
              <a:t>Overview</a:t>
            </a:r>
            <a:r>
              <a:rPr sz="4050" spc="-459" dirty="0"/>
              <a:t> </a:t>
            </a:r>
            <a:r>
              <a:rPr sz="4050" spc="-400" dirty="0"/>
              <a:t>&amp;</a:t>
            </a:r>
            <a:r>
              <a:rPr sz="4050" spc="-465" dirty="0"/>
              <a:t> </a:t>
            </a:r>
            <a:r>
              <a:rPr sz="4050" spc="-10" dirty="0"/>
              <a:t>Goals</a:t>
            </a:r>
            <a:endParaRPr sz="4050"/>
          </a:p>
          <a:p>
            <a:pPr marL="12065" marR="5080" algn="ctr">
              <a:lnSpc>
                <a:spcPct val="150000"/>
              </a:lnSpc>
              <a:spcBef>
                <a:spcPts val="320"/>
              </a:spcBef>
            </a:pPr>
            <a:r>
              <a:rPr sz="1650" spc="-20" dirty="0">
                <a:solidFill>
                  <a:srgbClr val="475568"/>
                </a:solidFill>
                <a:latin typeface="Roboto"/>
                <a:cs typeface="Roboto"/>
              </a:rPr>
              <a:t>Designing</a:t>
            </a:r>
            <a:r>
              <a:rPr sz="1650" spc="-40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75568"/>
                </a:solidFill>
                <a:latin typeface="Roboto"/>
                <a:cs typeface="Roboto"/>
              </a:rPr>
              <a:t>and</a:t>
            </a:r>
            <a:r>
              <a:rPr sz="1650" spc="-3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20" dirty="0">
                <a:solidFill>
                  <a:srgbClr val="475568"/>
                </a:solidFill>
                <a:latin typeface="Roboto"/>
                <a:cs typeface="Roboto"/>
              </a:rPr>
              <a:t>validating</a:t>
            </a:r>
            <a:r>
              <a:rPr sz="1650" spc="-3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75568"/>
                </a:solidFill>
                <a:latin typeface="Roboto"/>
                <a:cs typeface="Roboto"/>
              </a:rPr>
              <a:t>an</a:t>
            </a:r>
            <a:r>
              <a:rPr sz="1650" spc="-40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80" dirty="0">
                <a:solidFill>
                  <a:srgbClr val="475568"/>
                </a:solidFill>
                <a:latin typeface="Roboto"/>
                <a:cs typeface="Roboto"/>
              </a:rPr>
              <a:t>end-</a:t>
            </a:r>
            <a:r>
              <a:rPr sz="1650" spc="-70" dirty="0">
                <a:solidFill>
                  <a:srgbClr val="475568"/>
                </a:solidFill>
                <a:latin typeface="Roboto"/>
                <a:cs typeface="Roboto"/>
              </a:rPr>
              <a:t>to-</a:t>
            </a:r>
            <a:r>
              <a:rPr sz="1650" spc="-60" dirty="0">
                <a:solidFill>
                  <a:srgbClr val="475568"/>
                </a:solidFill>
                <a:latin typeface="Roboto"/>
                <a:cs typeface="Roboto"/>
              </a:rPr>
              <a:t>end</a:t>
            </a:r>
            <a:r>
              <a:rPr sz="1650" spc="-3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20" dirty="0">
                <a:solidFill>
                  <a:srgbClr val="475568"/>
                </a:solidFill>
                <a:latin typeface="Roboto"/>
                <a:cs typeface="Roboto"/>
              </a:rPr>
              <a:t>automated</a:t>
            </a:r>
            <a:r>
              <a:rPr sz="1650" spc="-3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20" dirty="0">
                <a:solidFill>
                  <a:srgbClr val="475568"/>
                </a:solidFill>
                <a:latin typeface="Roboto"/>
                <a:cs typeface="Roboto"/>
              </a:rPr>
              <a:t>assembly</a:t>
            </a:r>
            <a:r>
              <a:rPr sz="1650" spc="-3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75568"/>
                </a:solidFill>
                <a:latin typeface="Roboto"/>
                <a:cs typeface="Roboto"/>
              </a:rPr>
              <a:t>line</a:t>
            </a:r>
            <a:r>
              <a:rPr sz="1650" spc="-40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20" dirty="0">
                <a:solidFill>
                  <a:srgbClr val="475568"/>
                </a:solidFill>
                <a:latin typeface="Roboto"/>
                <a:cs typeface="Roboto"/>
              </a:rPr>
              <a:t>using</a:t>
            </a:r>
            <a:r>
              <a:rPr sz="1650" spc="-3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75568"/>
                </a:solidFill>
                <a:latin typeface="Roboto"/>
                <a:cs typeface="Roboto"/>
              </a:rPr>
              <a:t>digital</a:t>
            </a:r>
            <a:r>
              <a:rPr sz="1650" spc="-3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20" dirty="0">
                <a:solidFill>
                  <a:srgbClr val="475568"/>
                </a:solidFill>
                <a:latin typeface="Roboto"/>
                <a:cs typeface="Roboto"/>
              </a:rPr>
              <a:t>twin technology</a:t>
            </a:r>
            <a:r>
              <a:rPr sz="1650" spc="-3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75568"/>
                </a:solidFill>
                <a:latin typeface="Roboto"/>
                <a:cs typeface="Roboto"/>
              </a:rPr>
              <a:t>before</a:t>
            </a:r>
            <a:r>
              <a:rPr sz="1650" spc="-3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20" dirty="0">
                <a:solidFill>
                  <a:srgbClr val="475568"/>
                </a:solidFill>
                <a:latin typeface="Roboto"/>
                <a:cs typeface="Roboto"/>
              </a:rPr>
              <a:t>hardware</a:t>
            </a:r>
            <a:r>
              <a:rPr sz="1650" spc="-30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75568"/>
                </a:solidFill>
                <a:latin typeface="Roboto"/>
                <a:cs typeface="Roboto"/>
              </a:rPr>
              <a:t>deployment.</a:t>
            </a:r>
            <a:endParaRPr sz="16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862262"/>
            <a:ext cx="5333999" cy="19430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500" y="2862262"/>
            <a:ext cx="5333999" cy="19430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1225" y="3145218"/>
            <a:ext cx="4507865" cy="1607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solidFill>
                  <a:srgbClr val="0284C7"/>
                </a:solidFill>
                <a:latin typeface="Arial Black"/>
                <a:cs typeface="Arial Black"/>
              </a:rPr>
              <a:t>Siemens</a:t>
            </a:r>
            <a:r>
              <a:rPr sz="1800" spc="-145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800" spc="-200" dirty="0">
                <a:solidFill>
                  <a:srgbClr val="0284C7"/>
                </a:solidFill>
                <a:latin typeface="Arial Black"/>
                <a:cs typeface="Arial Black"/>
              </a:rPr>
              <a:t>TIA</a:t>
            </a:r>
            <a:r>
              <a:rPr sz="1800" spc="-140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800" spc="-95" dirty="0">
                <a:solidFill>
                  <a:srgbClr val="0284C7"/>
                </a:solidFill>
                <a:latin typeface="Arial Black"/>
                <a:cs typeface="Arial Black"/>
              </a:rPr>
              <a:t>Portal</a:t>
            </a:r>
            <a:r>
              <a:rPr sz="1800" spc="-140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800" spc="-330" dirty="0">
                <a:solidFill>
                  <a:srgbClr val="0284C7"/>
                </a:solidFill>
                <a:latin typeface="Arial Black"/>
                <a:cs typeface="Arial Black"/>
              </a:rPr>
              <a:t>V</a:t>
            </a:r>
            <a:r>
              <a:rPr lang="ru-RU" sz="1800" spc="-330" dirty="0">
                <a:solidFill>
                  <a:srgbClr val="0284C7"/>
                </a:solidFill>
                <a:latin typeface="Arial Black"/>
                <a:cs typeface="Arial Black"/>
              </a:rPr>
              <a:t>20</a:t>
            </a:r>
            <a:endParaRPr sz="1800" dirty="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570"/>
              </a:spcBef>
            </a:pP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Serves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as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the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engineering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software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framework.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Houses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the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CPU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60" dirty="0">
                <a:solidFill>
                  <a:srgbClr val="334155"/>
                </a:solidFill>
                <a:latin typeface="Roboto"/>
                <a:cs typeface="Roboto"/>
              </a:rPr>
              <a:t>S7-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300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logic,</a:t>
            </a:r>
            <a:r>
              <a:rPr sz="1350" spc="-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hardware conﬁguration,</a:t>
            </a:r>
            <a:r>
              <a:rPr sz="1350" spc="-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70" dirty="0">
                <a:solidFill>
                  <a:srgbClr val="334155"/>
                </a:solidFill>
                <a:latin typeface="Roboto"/>
                <a:cs typeface="Roboto"/>
              </a:rPr>
              <a:t>S7-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PLCSIM engine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for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real-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time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PLC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execution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without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physical hardware.</a:t>
            </a:r>
            <a:endParaRPr sz="1350" dirty="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26225" y="3145218"/>
            <a:ext cx="4345940" cy="1607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5" dirty="0">
                <a:solidFill>
                  <a:srgbClr val="0284C7"/>
                </a:solidFill>
                <a:latin typeface="Arial Black"/>
                <a:cs typeface="Arial Black"/>
              </a:rPr>
              <a:t>Factory</a:t>
            </a:r>
            <a:r>
              <a:rPr sz="1800" spc="-105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0284C7"/>
                </a:solidFill>
                <a:latin typeface="Arial Black"/>
                <a:cs typeface="Arial Black"/>
              </a:rPr>
              <a:t>I/O</a:t>
            </a:r>
            <a:r>
              <a:rPr sz="1800" spc="-100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0284C7"/>
                </a:solidFill>
                <a:latin typeface="Arial Black"/>
                <a:cs typeface="Arial Black"/>
              </a:rPr>
              <a:t>Environment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570"/>
              </a:spcBef>
            </a:pP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Provides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realistic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3D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industrial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simulation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scene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for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the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Assembly</a:t>
            </a:r>
            <a:r>
              <a:rPr sz="1350" spc="-5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Unit.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Features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realistic</a:t>
            </a:r>
            <a:r>
              <a:rPr sz="1350" spc="-5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physics,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sensors, pneumatic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actuators,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discrete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I/O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communication drivers.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Key</a:t>
            </a:r>
            <a:r>
              <a:rPr spc="-300" dirty="0"/>
              <a:t> </a:t>
            </a:r>
            <a:r>
              <a:rPr spc="-125" dirty="0"/>
              <a:t>Software</a:t>
            </a:r>
            <a:r>
              <a:rPr spc="-300" dirty="0"/>
              <a:t> </a:t>
            </a:r>
            <a:r>
              <a:rPr spc="-265" dirty="0"/>
              <a:t>&amp;</a:t>
            </a:r>
            <a:r>
              <a:rPr spc="-300" dirty="0"/>
              <a:t> </a:t>
            </a:r>
            <a:r>
              <a:rPr spc="-70" dirty="0"/>
              <a:t>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500" y="2024062"/>
            <a:ext cx="5333999" cy="3619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92150" y="1901633"/>
            <a:ext cx="5186680" cy="2528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 marR="5080" indent="-114300">
              <a:lnSpc>
                <a:spcPct val="150000"/>
              </a:lnSpc>
              <a:spcBef>
                <a:spcPts val="100"/>
              </a:spcBef>
              <a:buFont typeface="Roboto"/>
              <a:buChar char="•"/>
              <a:tabLst>
                <a:tab pos="127000" algn="l"/>
              </a:tabLst>
            </a:pPr>
            <a:r>
              <a:rPr sz="1350" b="1" dirty="0">
                <a:solidFill>
                  <a:srgbClr val="334155"/>
                </a:solidFill>
                <a:latin typeface="Roboto"/>
                <a:cs typeface="Roboto"/>
              </a:rPr>
              <a:t>Part</a:t>
            </a:r>
            <a:r>
              <a:rPr sz="1350" b="1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34155"/>
                </a:solidFill>
                <a:latin typeface="Roboto"/>
                <a:cs typeface="Roboto"/>
              </a:rPr>
              <a:t>Conveyors:</a:t>
            </a:r>
            <a:r>
              <a:rPr sz="1350" b="1" spc="-5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Transport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base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components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lid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elements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into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the</a:t>
            </a:r>
            <a:r>
              <a:rPr sz="1350" spc="-5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station.</a:t>
            </a:r>
            <a:endParaRPr sz="1350">
              <a:latin typeface="Roboto"/>
              <a:cs typeface="Roboto"/>
            </a:endParaRPr>
          </a:p>
          <a:p>
            <a:pPr marL="127000" marR="458470" indent="-114300">
              <a:lnSpc>
                <a:spcPct val="150000"/>
              </a:lnSpc>
              <a:spcBef>
                <a:spcPts val="90"/>
              </a:spcBef>
              <a:buFont typeface="Roboto"/>
              <a:buChar char="•"/>
              <a:tabLst>
                <a:tab pos="127000" algn="l"/>
              </a:tabLst>
            </a:pPr>
            <a:r>
              <a:rPr sz="1350" b="1" dirty="0">
                <a:solidFill>
                  <a:srgbClr val="334155"/>
                </a:solidFill>
                <a:latin typeface="Roboto"/>
                <a:cs typeface="Roboto"/>
              </a:rPr>
              <a:t>Pneumatic</a:t>
            </a:r>
            <a:r>
              <a:rPr sz="1350" b="1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34155"/>
                </a:solidFill>
                <a:latin typeface="Roboto"/>
                <a:cs typeface="Roboto"/>
              </a:rPr>
              <a:t>Clamps:</a:t>
            </a:r>
            <a:r>
              <a:rPr sz="1350" b="1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Securely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hold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base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parts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during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press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ﬁt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operations.</a:t>
            </a:r>
            <a:endParaRPr sz="1350">
              <a:latin typeface="Roboto"/>
              <a:cs typeface="Roboto"/>
            </a:endParaRPr>
          </a:p>
          <a:p>
            <a:pPr marL="127000" marR="16510" indent="-114300">
              <a:lnSpc>
                <a:spcPct val="150000"/>
              </a:lnSpc>
              <a:spcBef>
                <a:spcPts val="90"/>
              </a:spcBef>
              <a:buFont typeface="Roboto"/>
              <a:buChar char="•"/>
              <a:tabLst>
                <a:tab pos="127000" algn="l"/>
              </a:tabLst>
            </a:pPr>
            <a:r>
              <a:rPr sz="1350" b="1" spc="-10" dirty="0">
                <a:solidFill>
                  <a:srgbClr val="334155"/>
                </a:solidFill>
                <a:latin typeface="Roboto"/>
                <a:cs typeface="Roboto"/>
              </a:rPr>
              <a:t>Two-</a:t>
            </a:r>
            <a:r>
              <a:rPr sz="1350" b="1" dirty="0">
                <a:solidFill>
                  <a:srgbClr val="334155"/>
                </a:solidFill>
                <a:latin typeface="Roboto"/>
                <a:cs typeface="Roboto"/>
              </a:rPr>
              <a:t>Axis</a:t>
            </a:r>
            <a:r>
              <a:rPr sz="1350" b="1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34155"/>
                </a:solidFill>
                <a:latin typeface="Roboto"/>
                <a:cs typeface="Roboto"/>
              </a:rPr>
              <a:t>Robot</a:t>
            </a:r>
            <a:r>
              <a:rPr sz="1350" b="1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34155"/>
                </a:solidFill>
                <a:latin typeface="Roboto"/>
                <a:cs typeface="Roboto"/>
              </a:rPr>
              <a:t>/</a:t>
            </a:r>
            <a:r>
              <a:rPr sz="1350" b="1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34155"/>
                </a:solidFill>
                <a:latin typeface="Roboto"/>
                <a:cs typeface="Roboto"/>
              </a:rPr>
              <a:t>Pusher:</a:t>
            </a:r>
            <a:r>
              <a:rPr sz="1350" b="1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Picks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or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transfers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assembled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units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onto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the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exit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conveyor.</a:t>
            </a:r>
            <a:endParaRPr sz="1350">
              <a:latin typeface="Roboto"/>
              <a:cs typeface="Roboto"/>
            </a:endParaRPr>
          </a:p>
          <a:p>
            <a:pPr marL="127000" marR="384175" indent="-114300">
              <a:lnSpc>
                <a:spcPct val="150000"/>
              </a:lnSpc>
              <a:spcBef>
                <a:spcPts val="90"/>
              </a:spcBef>
              <a:buFont typeface="Roboto"/>
              <a:buChar char="•"/>
              <a:tabLst>
                <a:tab pos="127000" algn="l"/>
              </a:tabLst>
            </a:pPr>
            <a:r>
              <a:rPr sz="1350" b="1" dirty="0">
                <a:solidFill>
                  <a:srgbClr val="334155"/>
                </a:solidFill>
                <a:latin typeface="Roboto"/>
                <a:cs typeface="Roboto"/>
              </a:rPr>
              <a:t>Optical</a:t>
            </a:r>
            <a:r>
              <a:rPr sz="1350" b="1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34155"/>
                </a:solidFill>
                <a:latin typeface="Roboto"/>
                <a:cs typeface="Roboto"/>
              </a:rPr>
              <a:t>Sensors:</a:t>
            </a:r>
            <a:r>
              <a:rPr sz="1350" b="1" spc="-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Detect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part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arrival,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orientation,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clamping completion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status.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58800" y="449834"/>
            <a:ext cx="45542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Factory</a:t>
            </a:r>
            <a:r>
              <a:rPr spc="-270" dirty="0"/>
              <a:t> </a:t>
            </a:r>
            <a:r>
              <a:rPr dirty="0"/>
              <a:t>I/O</a:t>
            </a:r>
            <a:r>
              <a:rPr spc="-265" dirty="0"/>
              <a:t> </a:t>
            </a:r>
            <a:r>
              <a:rPr spc="-60" dirty="0"/>
              <a:t>Assembly</a:t>
            </a:r>
            <a:r>
              <a:rPr spc="-265" dirty="0"/>
              <a:t> </a:t>
            </a:r>
            <a:r>
              <a:rPr spc="-65" dirty="0"/>
              <a:t>Cell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495550"/>
            <a:ext cx="3530648" cy="26765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0748" y="2495550"/>
            <a:ext cx="3530648" cy="26765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89999" y="2495550"/>
            <a:ext cx="3530647" cy="267652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47725" y="2800350"/>
            <a:ext cx="571500" cy="571500"/>
            <a:chOff x="847725" y="2800350"/>
            <a:chExt cx="571500" cy="571500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7725" y="2800350"/>
              <a:ext cx="571499" cy="5714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1075" y="2952750"/>
              <a:ext cx="304799" cy="2666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35025" y="3540505"/>
            <a:ext cx="2955290" cy="1298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45" dirty="0">
                <a:solidFill>
                  <a:srgbClr val="0F172A"/>
                </a:solidFill>
                <a:latin typeface="Arial Black"/>
                <a:cs typeface="Arial Black"/>
              </a:rPr>
              <a:t>1.</a:t>
            </a:r>
            <a:r>
              <a:rPr sz="1800" spc="-165" dirty="0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sz="1800" spc="-125" dirty="0">
                <a:solidFill>
                  <a:srgbClr val="0F172A"/>
                </a:solidFill>
                <a:latin typeface="Arial Black"/>
                <a:cs typeface="Arial Black"/>
              </a:rPr>
              <a:t>3D</a:t>
            </a:r>
            <a:r>
              <a:rPr sz="1800" spc="-165" dirty="0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0F172A"/>
                </a:solidFill>
                <a:latin typeface="Arial Black"/>
                <a:cs typeface="Arial Black"/>
              </a:rPr>
              <a:t>Scene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570"/>
              </a:spcBef>
            </a:pP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Factory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I/O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simulates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actuators, photoelectric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sensors,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mechanical physical</a:t>
            </a:r>
            <a:r>
              <a:rPr sz="1350" spc="-6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behaviors.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606973" y="2800350"/>
            <a:ext cx="571500" cy="571500"/>
            <a:chOff x="4606973" y="2800350"/>
            <a:chExt cx="571500" cy="57150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06973" y="2800350"/>
              <a:ext cx="571499" cy="5714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26037" y="2952750"/>
              <a:ext cx="333374" cy="26669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594274" y="3540505"/>
            <a:ext cx="2844165" cy="1298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60" dirty="0">
                <a:solidFill>
                  <a:srgbClr val="0F172A"/>
                </a:solidFill>
                <a:latin typeface="Arial Black"/>
                <a:cs typeface="Arial Black"/>
              </a:rPr>
              <a:t>2.</a:t>
            </a:r>
            <a:r>
              <a:rPr sz="1800" spc="-170" dirty="0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sz="1800" spc="-190" dirty="0">
                <a:solidFill>
                  <a:srgbClr val="0F172A"/>
                </a:solidFill>
                <a:latin typeface="Arial Black"/>
                <a:cs typeface="Arial Black"/>
              </a:rPr>
              <a:t>PLCSIM</a:t>
            </a:r>
            <a:r>
              <a:rPr sz="1800" spc="-170" dirty="0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0F172A"/>
                </a:solidFill>
                <a:latin typeface="Arial Black"/>
                <a:cs typeface="Arial Black"/>
              </a:rPr>
              <a:t>Driver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570"/>
              </a:spcBef>
            </a:pP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Bidirectional</a:t>
            </a:r>
            <a:r>
              <a:rPr sz="1350" spc="-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memory</a:t>
            </a:r>
            <a:r>
              <a:rPr sz="1350" spc="-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tag</a:t>
            </a:r>
            <a:r>
              <a:rPr sz="1350" spc="-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mapping connects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70" dirty="0">
                <a:solidFill>
                  <a:srgbClr val="334155"/>
                </a:solidFill>
                <a:latin typeface="Roboto"/>
                <a:cs typeface="Roboto"/>
              </a:rPr>
              <a:t>S7-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PLCSIM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virtual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registers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to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3D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I/O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nodes.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366224" y="2800350"/>
            <a:ext cx="571500" cy="571500"/>
            <a:chOff x="8366224" y="2800350"/>
            <a:chExt cx="571500" cy="571500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66224" y="2800350"/>
              <a:ext cx="571499" cy="5714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18624" y="2952750"/>
              <a:ext cx="266699" cy="26669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353524" y="3540505"/>
            <a:ext cx="2930525" cy="1298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35" dirty="0">
                <a:solidFill>
                  <a:srgbClr val="0F172A"/>
                </a:solidFill>
                <a:latin typeface="Arial Black"/>
                <a:cs typeface="Arial Black"/>
              </a:rPr>
              <a:t>3.</a:t>
            </a:r>
            <a:r>
              <a:rPr sz="1800" spc="-165" dirty="0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sz="1800" spc="-215" dirty="0">
                <a:solidFill>
                  <a:srgbClr val="0F172A"/>
                </a:solidFill>
                <a:latin typeface="Arial Black"/>
                <a:cs typeface="Arial Black"/>
              </a:rPr>
              <a:t>PLC</a:t>
            </a:r>
            <a:r>
              <a:rPr sz="1800" spc="-165" dirty="0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0F172A"/>
                </a:solidFill>
                <a:latin typeface="Arial Black"/>
                <a:cs typeface="Arial Black"/>
              </a:rPr>
              <a:t>Program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570"/>
              </a:spcBef>
            </a:pP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TIA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Portal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60" dirty="0">
                <a:solidFill>
                  <a:srgbClr val="334155"/>
                </a:solidFill>
                <a:latin typeface="Roboto"/>
                <a:cs typeface="Roboto"/>
              </a:rPr>
              <a:t>S7-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300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executes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OB1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cyclic control,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safety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interlocks,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state machine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 FCs.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Core</a:t>
            </a:r>
            <a:r>
              <a:rPr spc="-290" dirty="0"/>
              <a:t> </a:t>
            </a:r>
            <a:r>
              <a:rPr spc="-100" dirty="0"/>
              <a:t>System</a:t>
            </a:r>
            <a:r>
              <a:rPr spc="-285" dirty="0"/>
              <a:t> </a:t>
            </a:r>
            <a:r>
              <a:rPr spc="-80" dirty="0"/>
              <a:t>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6645" y="2387970"/>
            <a:ext cx="11138709" cy="2937684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71500" y="2409507"/>
          <a:ext cx="11049634" cy="2846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1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3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47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1350" spc="-10" dirty="0">
                          <a:solidFill>
                            <a:srgbClr val="F7FAFC"/>
                          </a:solidFill>
                          <a:latin typeface="Arial Black"/>
                          <a:cs typeface="Arial Black"/>
                        </a:rPr>
                        <a:t>Address</a:t>
                      </a:r>
                      <a:endParaRPr sz="1350">
                        <a:latin typeface="Arial Black"/>
                        <a:cs typeface="Arial Black"/>
                      </a:endParaRPr>
                    </a:p>
                  </a:txBody>
                  <a:tcPr marL="0" marR="0" marT="175260" marB="0">
                    <a:lnT w="31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346710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1350" spc="-60" dirty="0">
                          <a:solidFill>
                            <a:srgbClr val="F7FAFC"/>
                          </a:solidFill>
                          <a:latin typeface="Arial Black"/>
                          <a:cs typeface="Arial Black"/>
                        </a:rPr>
                        <a:t>Signal</a:t>
                      </a:r>
                      <a:r>
                        <a:rPr sz="1350" spc="-95" dirty="0">
                          <a:solidFill>
                            <a:srgbClr val="F7FAFC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350" spc="-20" dirty="0">
                          <a:solidFill>
                            <a:srgbClr val="F7FAFC"/>
                          </a:solidFill>
                          <a:latin typeface="Arial Black"/>
                          <a:cs typeface="Arial Black"/>
                        </a:rPr>
                        <a:t>Name</a:t>
                      </a:r>
                      <a:endParaRPr sz="1350">
                        <a:latin typeface="Arial Black"/>
                        <a:cs typeface="Arial Black"/>
                      </a:endParaRPr>
                    </a:p>
                  </a:txBody>
                  <a:tcPr marL="0" marR="0" marT="175260" marB="0">
                    <a:lnT w="31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1350" spc="-20" dirty="0">
                          <a:solidFill>
                            <a:srgbClr val="F7FAFC"/>
                          </a:solidFill>
                          <a:latin typeface="Arial Black"/>
                          <a:cs typeface="Arial Black"/>
                        </a:rPr>
                        <a:t>Type</a:t>
                      </a:r>
                      <a:endParaRPr sz="1350">
                        <a:latin typeface="Arial Black"/>
                        <a:cs typeface="Arial Black"/>
                      </a:endParaRPr>
                    </a:p>
                  </a:txBody>
                  <a:tcPr marL="0" marR="0" marT="175260" marB="0">
                    <a:lnT w="31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1350" spc="-70" dirty="0">
                          <a:solidFill>
                            <a:srgbClr val="F7FAFC"/>
                          </a:solidFill>
                          <a:latin typeface="Arial Black"/>
                          <a:cs typeface="Arial Black"/>
                        </a:rPr>
                        <a:t>Function</a:t>
                      </a:r>
                      <a:r>
                        <a:rPr sz="1350" spc="-90" dirty="0">
                          <a:solidFill>
                            <a:srgbClr val="F7FAFC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350" spc="-10" dirty="0">
                          <a:solidFill>
                            <a:srgbClr val="F7FAFC"/>
                          </a:solidFill>
                          <a:latin typeface="Arial Black"/>
                          <a:cs typeface="Arial Black"/>
                        </a:rPr>
                        <a:t>Description</a:t>
                      </a:r>
                      <a:endParaRPr sz="1350">
                        <a:latin typeface="Arial Black"/>
                        <a:cs typeface="Arial Black"/>
                      </a:endParaRPr>
                    </a:p>
                  </a:txBody>
                  <a:tcPr marL="0" marR="0" marT="175260" marB="0">
                    <a:lnT w="31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86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I</a:t>
                      </a:r>
                      <a:r>
                        <a:rPr sz="1350" spc="-3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2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0.0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E1E7F0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4671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Start_PB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E1E7F0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BOOL</a:t>
                      </a:r>
                      <a:r>
                        <a:rPr sz="1350" spc="-5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(Input)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E1E7F0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Main</a:t>
                      </a:r>
                      <a:r>
                        <a:rPr sz="1350" spc="-6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control</a:t>
                      </a:r>
                      <a:r>
                        <a:rPr sz="1350" spc="-5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panel</a:t>
                      </a:r>
                      <a:r>
                        <a:rPr sz="1350" spc="-5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system</a:t>
                      </a:r>
                      <a:r>
                        <a:rPr sz="1350" spc="-5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start</a:t>
                      </a:r>
                      <a:r>
                        <a:rPr sz="1350" spc="-5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button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E1E7F0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I</a:t>
                      </a:r>
                      <a:r>
                        <a:rPr sz="1350" spc="-3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2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0.1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80340" marB="0">
                    <a:lnT w="9525">
                      <a:solidFill>
                        <a:srgbClr val="E1E7F0"/>
                      </a:solidFill>
                      <a:prstDash val="solid"/>
                    </a:lnT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34671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At_Place_Sensor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80340" marB="0">
                    <a:lnT w="9525">
                      <a:solidFill>
                        <a:srgbClr val="E1E7F0"/>
                      </a:solidFill>
                      <a:prstDash val="solid"/>
                    </a:lnT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BOOL</a:t>
                      </a:r>
                      <a:r>
                        <a:rPr sz="1350" spc="-5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(Input)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80340" marB="0">
                    <a:lnT w="9525">
                      <a:solidFill>
                        <a:srgbClr val="E1E7F0"/>
                      </a:solidFill>
                      <a:prstDash val="solid"/>
                    </a:lnT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Optical</a:t>
                      </a:r>
                      <a:r>
                        <a:rPr sz="1350" spc="-4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sensor</a:t>
                      </a:r>
                      <a:r>
                        <a:rPr sz="1350" spc="-4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detecting</a:t>
                      </a:r>
                      <a:r>
                        <a:rPr sz="1350" spc="-4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part</a:t>
                      </a:r>
                      <a:r>
                        <a:rPr sz="1350" spc="-4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positioned</a:t>
                      </a:r>
                      <a:r>
                        <a:rPr sz="1350" spc="-4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in</a:t>
                      </a:r>
                      <a:r>
                        <a:rPr sz="1350" spc="-4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clamp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80340" marB="0">
                    <a:lnT w="9525">
                      <a:solidFill>
                        <a:srgbClr val="E1E7F0"/>
                      </a:solidFill>
                      <a:prstDash val="solid"/>
                    </a:lnT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Q</a:t>
                      </a:r>
                      <a:r>
                        <a:rPr sz="1350" spc="-1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2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0.0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74625" marB="0"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46710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Conveyor_Entry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74625" marB="0"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BOOL</a:t>
                      </a:r>
                      <a:r>
                        <a:rPr sz="1350" spc="-5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(Output)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74625" marB="0"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Drives</a:t>
                      </a:r>
                      <a:r>
                        <a:rPr sz="1350" spc="-4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motor</a:t>
                      </a:r>
                      <a:r>
                        <a:rPr sz="1350" spc="-4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for</a:t>
                      </a:r>
                      <a:r>
                        <a:rPr sz="1350" spc="-4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incoming</a:t>
                      </a:r>
                      <a:r>
                        <a:rPr sz="1350" spc="-4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raw</a:t>
                      </a:r>
                      <a:r>
                        <a:rPr sz="1350" spc="-4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component</a:t>
                      </a:r>
                      <a:r>
                        <a:rPr sz="1350" spc="-4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2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feed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74625" marB="0"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Q</a:t>
                      </a:r>
                      <a:r>
                        <a:rPr sz="1350" spc="-1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2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0.1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76530" marB="0">
                    <a:lnT w="9525">
                      <a:solidFill>
                        <a:srgbClr val="E1E7F0"/>
                      </a:solidFill>
                      <a:prstDash val="solid"/>
                    </a:lnT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346710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Pneumatic_Clamp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76530" marB="0">
                    <a:lnT w="9525">
                      <a:solidFill>
                        <a:srgbClr val="E1E7F0"/>
                      </a:solidFill>
                      <a:prstDash val="solid"/>
                    </a:lnT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BOOL</a:t>
                      </a:r>
                      <a:r>
                        <a:rPr sz="1350" spc="-5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(Output)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76530" marB="0">
                    <a:lnT w="9525">
                      <a:solidFill>
                        <a:srgbClr val="E1E7F0"/>
                      </a:solidFill>
                      <a:prstDash val="solid"/>
                    </a:lnT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Extends</a:t>
                      </a:r>
                      <a:r>
                        <a:rPr sz="1350" spc="-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cylinder</a:t>
                      </a:r>
                      <a:r>
                        <a:rPr sz="1350" spc="-4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to</a:t>
                      </a:r>
                      <a:r>
                        <a:rPr sz="1350" spc="-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hold</a:t>
                      </a:r>
                      <a:r>
                        <a:rPr sz="1350" spc="-4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component</a:t>
                      </a:r>
                      <a:r>
                        <a:rPr sz="1350" spc="-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during</a:t>
                      </a:r>
                      <a:r>
                        <a:rPr sz="1350" spc="-4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assembly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76530" marB="0">
                    <a:lnT w="9525">
                      <a:solidFill>
                        <a:srgbClr val="E1E7F0"/>
                      </a:solidFill>
                      <a:prstDash val="solid"/>
                    </a:lnT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I/O</a:t>
            </a:r>
            <a:r>
              <a:rPr spc="-265" dirty="0"/>
              <a:t> </a:t>
            </a:r>
            <a:r>
              <a:rPr spc="-85" dirty="0"/>
              <a:t>Signal</a:t>
            </a:r>
            <a:r>
              <a:rPr spc="-265" dirty="0"/>
              <a:t> </a:t>
            </a:r>
            <a:r>
              <a:rPr spc="-10" dirty="0"/>
              <a:t>Mapping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4119562"/>
            <a:ext cx="2541239" cy="13477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7419" y="2200275"/>
            <a:ext cx="2541239" cy="134778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43339" y="4119562"/>
            <a:ext cx="2541239" cy="134778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9259" y="2414587"/>
            <a:ext cx="2541239" cy="113347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71500" y="3709987"/>
            <a:ext cx="11049000" cy="247650"/>
            <a:chOff x="571500" y="3709987"/>
            <a:chExt cx="11049000" cy="247650"/>
          </a:xfrm>
        </p:grpSpPr>
        <p:sp>
          <p:nvSpPr>
            <p:cNvPr id="7" name="object 7"/>
            <p:cNvSpPr/>
            <p:nvPr/>
          </p:nvSpPr>
          <p:spPr>
            <a:xfrm>
              <a:off x="571500" y="3814762"/>
              <a:ext cx="11049000" cy="38100"/>
            </a:xfrm>
            <a:custGeom>
              <a:avLst/>
              <a:gdLst/>
              <a:ahLst/>
              <a:cxnLst/>
              <a:rect l="l" t="t" r="r" b="b"/>
              <a:pathLst>
                <a:path w="11049000" h="38100">
                  <a:moveTo>
                    <a:pt x="110489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11048999" y="0"/>
                  </a:lnTo>
                  <a:lnTo>
                    <a:pt x="11048999" y="38099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18295" y="3709987"/>
              <a:ext cx="247649" cy="2476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54215" y="3709987"/>
              <a:ext cx="247649" cy="2476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90134" y="3709987"/>
              <a:ext cx="247649" cy="2476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26054" y="3709987"/>
              <a:ext cx="247649" cy="24764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920684" y="4280217"/>
            <a:ext cx="1841500" cy="1056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500" spc="-90" dirty="0">
                <a:solidFill>
                  <a:srgbClr val="0284C7"/>
                </a:solidFill>
                <a:latin typeface="Arial Black"/>
                <a:cs typeface="Arial Black"/>
              </a:rPr>
              <a:t>Step</a:t>
            </a:r>
            <a:r>
              <a:rPr sz="1500" spc="-135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500" spc="-285" dirty="0">
                <a:solidFill>
                  <a:srgbClr val="0284C7"/>
                </a:solidFill>
                <a:latin typeface="Arial Black"/>
                <a:cs typeface="Arial Black"/>
              </a:rPr>
              <a:t>1:</a:t>
            </a:r>
            <a:r>
              <a:rPr sz="1500" spc="-135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500" spc="-20" dirty="0">
                <a:solidFill>
                  <a:srgbClr val="0284C7"/>
                </a:solidFill>
                <a:latin typeface="Arial Black"/>
                <a:cs typeface="Arial Black"/>
              </a:rPr>
              <a:t>Feed</a:t>
            </a:r>
            <a:endParaRPr sz="1500">
              <a:latin typeface="Arial Black"/>
              <a:cs typeface="Arial Black"/>
            </a:endParaRPr>
          </a:p>
          <a:p>
            <a:pPr marL="12065" marR="5080" indent="-635" algn="ctr">
              <a:lnSpc>
                <a:spcPct val="153400"/>
              </a:lnSpc>
              <a:spcBef>
                <a:spcPts val="235"/>
              </a:spcBef>
            </a:pP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Raw</a:t>
            </a:r>
            <a:r>
              <a:rPr sz="1100" spc="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part</a:t>
            </a:r>
            <a:r>
              <a:rPr sz="1100" spc="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moves</a:t>
            </a:r>
            <a:r>
              <a:rPr sz="1100" spc="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down</a:t>
            </a:r>
            <a:r>
              <a:rPr sz="1100" spc="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334155"/>
                </a:solidFill>
                <a:latin typeface="Roboto"/>
                <a:cs typeface="Roboto"/>
              </a:rPr>
              <a:t>entry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conveyor</a:t>
            </a:r>
            <a:r>
              <a:rPr sz="110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until</a:t>
            </a:r>
            <a:r>
              <a:rPr sz="110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optical</a:t>
            </a:r>
            <a:r>
              <a:rPr sz="1100" spc="-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334155"/>
                </a:solidFill>
                <a:latin typeface="Roboto"/>
                <a:cs typeface="Roboto"/>
              </a:rPr>
              <a:t>sensor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detects</a:t>
            </a:r>
            <a:r>
              <a:rPr sz="1100" spc="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334155"/>
                </a:solidFill>
                <a:latin typeface="Roboto"/>
                <a:cs typeface="Roboto"/>
              </a:rPr>
              <a:t>position.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83352" y="2360929"/>
            <a:ext cx="1988185" cy="1056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500" spc="-90" dirty="0">
                <a:solidFill>
                  <a:srgbClr val="0284C7"/>
                </a:solidFill>
                <a:latin typeface="Arial Black"/>
                <a:cs typeface="Arial Black"/>
              </a:rPr>
              <a:t>Step</a:t>
            </a:r>
            <a:r>
              <a:rPr sz="1500" spc="-130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500" spc="-135" dirty="0">
                <a:solidFill>
                  <a:srgbClr val="0284C7"/>
                </a:solidFill>
                <a:latin typeface="Arial Black"/>
                <a:cs typeface="Arial Black"/>
              </a:rPr>
              <a:t>2:</a:t>
            </a:r>
            <a:r>
              <a:rPr sz="1500" spc="-125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500" spc="-10" dirty="0">
                <a:solidFill>
                  <a:srgbClr val="0284C7"/>
                </a:solidFill>
                <a:latin typeface="Arial Black"/>
                <a:cs typeface="Arial Black"/>
              </a:rPr>
              <a:t>Clamp</a:t>
            </a:r>
            <a:endParaRPr sz="1500">
              <a:latin typeface="Arial Black"/>
              <a:cs typeface="Arial Black"/>
            </a:endParaRPr>
          </a:p>
          <a:p>
            <a:pPr marL="12700" marR="5080" algn="ctr">
              <a:lnSpc>
                <a:spcPct val="153400"/>
              </a:lnSpc>
              <a:spcBef>
                <a:spcPts val="235"/>
              </a:spcBef>
            </a:pP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Conveyor</a:t>
            </a:r>
            <a:r>
              <a:rPr sz="1100" spc="-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stops</a:t>
            </a:r>
            <a:r>
              <a:rPr sz="1100" spc="-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1100" spc="-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334155"/>
                </a:solidFill>
                <a:latin typeface="Roboto"/>
                <a:cs typeface="Roboto"/>
              </a:rPr>
              <a:t>pneumatic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cylinder</a:t>
            </a:r>
            <a:r>
              <a:rPr sz="1100" spc="-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clamps</a:t>
            </a:r>
            <a:r>
              <a:rPr sz="1100" spc="-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part</a:t>
            </a:r>
            <a:r>
              <a:rPr sz="1100" spc="-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334155"/>
                </a:solidFill>
                <a:latin typeface="Roboto"/>
                <a:cs typeface="Roboto"/>
              </a:rPr>
              <a:t>tightly</a:t>
            </a:r>
            <a:r>
              <a:rPr sz="1100" spc="-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spc="-25" dirty="0">
                <a:solidFill>
                  <a:srgbClr val="334155"/>
                </a:solidFill>
                <a:latin typeface="Roboto"/>
                <a:cs typeface="Roboto"/>
              </a:rPr>
              <a:t>in </a:t>
            </a:r>
            <a:r>
              <a:rPr sz="1100" spc="-10" dirty="0">
                <a:solidFill>
                  <a:srgbClr val="334155"/>
                </a:solidFill>
                <a:latin typeface="Roboto"/>
                <a:cs typeface="Roboto"/>
              </a:rPr>
              <a:t>place.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72322" y="4280217"/>
            <a:ext cx="2082164" cy="1056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500" spc="-90" dirty="0">
                <a:solidFill>
                  <a:srgbClr val="0284C7"/>
                </a:solidFill>
                <a:latin typeface="Arial Black"/>
                <a:cs typeface="Arial Black"/>
              </a:rPr>
              <a:t>Step</a:t>
            </a:r>
            <a:r>
              <a:rPr sz="1500" spc="-135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500" spc="-105" dirty="0">
                <a:solidFill>
                  <a:srgbClr val="0284C7"/>
                </a:solidFill>
                <a:latin typeface="Arial Black"/>
                <a:cs typeface="Arial Black"/>
              </a:rPr>
              <a:t>3:</a:t>
            </a:r>
            <a:r>
              <a:rPr sz="1500" spc="-135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500" spc="-10" dirty="0">
                <a:solidFill>
                  <a:srgbClr val="0284C7"/>
                </a:solidFill>
                <a:latin typeface="Arial Black"/>
                <a:cs typeface="Arial Black"/>
              </a:rPr>
              <a:t>Press</a:t>
            </a:r>
            <a:endParaRPr sz="1500">
              <a:latin typeface="Arial Black"/>
              <a:cs typeface="Arial Black"/>
            </a:endParaRPr>
          </a:p>
          <a:p>
            <a:pPr marL="12065" marR="5080" algn="ctr">
              <a:lnSpc>
                <a:spcPct val="153400"/>
              </a:lnSpc>
              <a:spcBef>
                <a:spcPts val="235"/>
              </a:spcBef>
            </a:pP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Vertical</a:t>
            </a:r>
            <a:r>
              <a:rPr sz="1100" spc="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assembly</a:t>
            </a:r>
            <a:r>
              <a:rPr sz="1100" spc="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arm</a:t>
            </a:r>
            <a:r>
              <a:rPr sz="1100" spc="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lowers</a:t>
            </a:r>
            <a:r>
              <a:rPr sz="1100" spc="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spc="-25" dirty="0">
                <a:solidFill>
                  <a:srgbClr val="334155"/>
                </a:solidFill>
                <a:latin typeface="Roboto"/>
                <a:cs typeface="Roboto"/>
              </a:rPr>
              <a:t>lid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onto</a:t>
            </a:r>
            <a:r>
              <a:rPr sz="1100" spc="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base</a:t>
            </a:r>
            <a:r>
              <a:rPr sz="1100" spc="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to</a:t>
            </a:r>
            <a:r>
              <a:rPr sz="1100" spc="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complete</a:t>
            </a:r>
            <a:r>
              <a:rPr sz="1100" spc="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334155"/>
                </a:solidFill>
                <a:latin typeface="Roboto"/>
                <a:cs typeface="Roboto"/>
              </a:rPr>
              <a:t>pressing sequence.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73604" y="2575242"/>
            <a:ext cx="2151380" cy="798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500" spc="-90" dirty="0">
                <a:solidFill>
                  <a:srgbClr val="0284C7"/>
                </a:solidFill>
                <a:latin typeface="Arial Black"/>
                <a:cs typeface="Arial Black"/>
              </a:rPr>
              <a:t>Step</a:t>
            </a:r>
            <a:r>
              <a:rPr sz="1500" spc="-135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500" spc="-60" dirty="0">
                <a:solidFill>
                  <a:srgbClr val="0284C7"/>
                </a:solidFill>
                <a:latin typeface="Arial Black"/>
                <a:cs typeface="Arial Black"/>
              </a:rPr>
              <a:t>4:</a:t>
            </a:r>
            <a:r>
              <a:rPr sz="1500" spc="-135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500" spc="-20" dirty="0">
                <a:solidFill>
                  <a:srgbClr val="0284C7"/>
                </a:solidFill>
                <a:latin typeface="Arial Black"/>
                <a:cs typeface="Arial Black"/>
              </a:rPr>
              <a:t>Exit</a:t>
            </a:r>
            <a:endParaRPr sz="1500">
              <a:latin typeface="Arial Black"/>
              <a:cs typeface="Arial Black"/>
            </a:endParaRPr>
          </a:p>
          <a:p>
            <a:pPr marL="12700" marR="5080" algn="ctr">
              <a:lnSpc>
                <a:spcPct val="153400"/>
              </a:lnSpc>
              <a:spcBef>
                <a:spcPts val="235"/>
              </a:spcBef>
            </a:pP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Clamp</a:t>
            </a:r>
            <a:r>
              <a:rPr sz="1100" spc="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releases</a:t>
            </a:r>
            <a:r>
              <a:rPr sz="1100" spc="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1100" spc="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exit</a:t>
            </a:r>
            <a:r>
              <a:rPr sz="1100" spc="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334155"/>
                </a:solidFill>
                <a:latin typeface="Roboto"/>
                <a:cs typeface="Roboto"/>
              </a:rPr>
              <a:t>conveyor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transports</a:t>
            </a:r>
            <a:r>
              <a:rPr sz="110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ﬁnished</a:t>
            </a:r>
            <a:r>
              <a:rPr sz="110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product</a:t>
            </a:r>
            <a:r>
              <a:rPr sz="110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spc="-20" dirty="0">
                <a:solidFill>
                  <a:srgbClr val="334155"/>
                </a:solidFill>
                <a:latin typeface="Roboto"/>
                <a:cs typeface="Roboto"/>
              </a:rPr>
              <a:t>out.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Sequence</a:t>
            </a:r>
            <a:r>
              <a:rPr spc="-300" dirty="0"/>
              <a:t> </a:t>
            </a:r>
            <a:r>
              <a:rPr spc="-95" dirty="0"/>
              <a:t>of</a:t>
            </a:r>
            <a:r>
              <a:rPr spc="-295" dirty="0"/>
              <a:t> </a:t>
            </a:r>
            <a:r>
              <a:rPr spc="-60" dirty="0"/>
              <a:t>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5" dirty="0"/>
              <a:t>PLC</a:t>
            </a:r>
            <a:r>
              <a:rPr spc="-320" dirty="0"/>
              <a:t> </a:t>
            </a:r>
            <a:r>
              <a:rPr spc="-185" dirty="0"/>
              <a:t>Logic</a:t>
            </a:r>
            <a:r>
              <a:rPr spc="-315" dirty="0"/>
              <a:t> </a:t>
            </a:r>
            <a:r>
              <a:rPr spc="-60" dirty="0"/>
              <a:t>in</a:t>
            </a:r>
            <a:r>
              <a:rPr spc="-315" dirty="0"/>
              <a:t> </a:t>
            </a:r>
            <a:r>
              <a:rPr spc="-254" dirty="0"/>
              <a:t>TIA</a:t>
            </a:r>
            <a:r>
              <a:rPr spc="-320" dirty="0"/>
              <a:t> </a:t>
            </a:r>
            <a:r>
              <a:rPr spc="-60" dirty="0"/>
              <a:t>Portal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8800" y="1264030"/>
            <a:ext cx="5297805" cy="1711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solidFill>
                  <a:srgbClr val="0F172A"/>
                </a:solidFill>
                <a:latin typeface="Arial Black"/>
                <a:cs typeface="Arial Black"/>
              </a:rPr>
              <a:t>Structured</a:t>
            </a:r>
            <a:r>
              <a:rPr sz="1800" spc="-135" dirty="0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sz="1800" spc="-85" dirty="0">
                <a:solidFill>
                  <a:srgbClr val="0F172A"/>
                </a:solidFill>
                <a:latin typeface="Arial Black"/>
                <a:cs typeface="Arial Black"/>
              </a:rPr>
              <a:t>Ladder</a:t>
            </a:r>
            <a:r>
              <a:rPr sz="1800" spc="-135" dirty="0">
                <a:solidFill>
                  <a:srgbClr val="0F172A"/>
                </a:solidFill>
                <a:latin typeface="Arial Black"/>
                <a:cs typeface="Arial Black"/>
              </a:rPr>
              <a:t> Logic </a:t>
            </a:r>
            <a:r>
              <a:rPr sz="1800" spc="-10" dirty="0">
                <a:solidFill>
                  <a:srgbClr val="0F172A"/>
                </a:solidFill>
                <a:latin typeface="Arial Black"/>
                <a:cs typeface="Arial Black"/>
              </a:rPr>
              <a:t>(LAD)</a:t>
            </a:r>
            <a:endParaRPr sz="1800">
              <a:latin typeface="Arial Black"/>
              <a:cs typeface="Arial Black"/>
            </a:endParaRPr>
          </a:p>
          <a:p>
            <a:pPr marL="12700" marR="342265">
              <a:lnSpc>
                <a:spcPct val="160000"/>
              </a:lnSpc>
              <a:spcBef>
                <a:spcPts val="409"/>
              </a:spcBef>
            </a:pP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Main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control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execution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runs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inside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34155"/>
                </a:solidFill>
                <a:latin typeface="Roboto"/>
                <a:cs typeface="Roboto"/>
              </a:rPr>
              <a:t>OB1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,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calling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modular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Function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Blocks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(FC)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for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auto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manual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modes.</a:t>
            </a:r>
            <a:endParaRPr sz="1350">
              <a:latin typeface="Roboto"/>
              <a:cs typeface="Roboto"/>
            </a:endParaRPr>
          </a:p>
          <a:p>
            <a:pPr marL="12700" marR="5080">
              <a:lnSpc>
                <a:spcPct val="160000"/>
              </a:lnSpc>
              <a:spcBef>
                <a:spcPts val="335"/>
              </a:spcBef>
            </a:pP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Safety</a:t>
            </a:r>
            <a:r>
              <a:rPr sz="1350" spc="-6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interlocks</a:t>
            </a:r>
            <a:r>
              <a:rPr sz="1350" spc="-6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ensure</a:t>
            </a:r>
            <a:r>
              <a:rPr sz="1350" spc="-6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cylinders</a:t>
            </a:r>
            <a:r>
              <a:rPr sz="1350" spc="-5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cannot</a:t>
            </a:r>
            <a:r>
              <a:rPr sz="1350" spc="-6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extend</a:t>
            </a:r>
            <a:r>
              <a:rPr sz="1350" spc="-6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unless</a:t>
            </a:r>
            <a:r>
              <a:rPr sz="1350" spc="-5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parts</a:t>
            </a:r>
            <a:r>
              <a:rPr sz="1350" spc="-6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are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conﬁrmed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in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position,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preventing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mechanical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collisions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in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Factory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I/O.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6" name="Рисунок 5" descr="Assembler - FACTORY I/O">
            <a:extLst>
              <a:ext uri="{FF2B5EF4-FFF2-40B4-BE49-F238E27FC236}">
                <a16:creationId xmlns:a16="http://schemas.microsoft.com/office/drawing/2014/main" id="{D39A66F4-B7B5-9AD9-546D-2CFEF904F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84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47029" y="3019106"/>
            <a:ext cx="3183255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750" spc="-1120" dirty="0">
                <a:solidFill>
                  <a:srgbClr val="0284C7"/>
                </a:solidFill>
                <a:latin typeface="Arial Black"/>
                <a:cs typeface="Arial Black"/>
              </a:rPr>
              <a:t>100%</a:t>
            </a:r>
            <a:endParaRPr sz="975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36905" y="4297743"/>
            <a:ext cx="1801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F172A"/>
                </a:solidFill>
                <a:latin typeface="Roboto"/>
                <a:cs typeface="Roboto"/>
              </a:rPr>
              <a:t>Virtual</a:t>
            </a:r>
            <a:r>
              <a:rPr sz="1800" b="1" spc="20" dirty="0">
                <a:solidFill>
                  <a:srgbClr val="0F172A"/>
                </a:solidFill>
                <a:latin typeface="Roboto"/>
                <a:cs typeface="Roboto"/>
              </a:rPr>
              <a:t> </a:t>
            </a:r>
            <a:r>
              <a:rPr sz="1800" b="1" spc="-10" dirty="0">
                <a:solidFill>
                  <a:srgbClr val="0F172A"/>
                </a:solidFill>
                <a:latin typeface="Roboto"/>
                <a:cs typeface="Roboto"/>
              </a:rPr>
              <a:t>Validation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3800" y="3059493"/>
            <a:ext cx="5226050" cy="1298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spc="-130" dirty="0">
                <a:solidFill>
                  <a:srgbClr val="0F172A"/>
                </a:solidFill>
                <a:latin typeface="Arial Black"/>
                <a:cs typeface="Arial Black"/>
              </a:rPr>
              <a:t>Zero</a:t>
            </a:r>
            <a:r>
              <a:rPr sz="1800" spc="-135" dirty="0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sz="1800" spc="-80" dirty="0">
                <a:solidFill>
                  <a:srgbClr val="0F172A"/>
                </a:solidFill>
                <a:latin typeface="Arial Black"/>
                <a:cs typeface="Arial Black"/>
              </a:rPr>
              <a:t>Hardware</a:t>
            </a:r>
            <a:r>
              <a:rPr sz="1800" spc="-130" dirty="0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0F172A"/>
                </a:solidFill>
                <a:latin typeface="Arial Black"/>
                <a:cs typeface="Arial Black"/>
              </a:rPr>
              <a:t>Downtime</a:t>
            </a:r>
            <a:endParaRPr sz="1800">
              <a:latin typeface="Arial Black"/>
              <a:cs typeface="Arial Black"/>
            </a:endParaRPr>
          </a:p>
          <a:p>
            <a:pPr marL="12700" marR="5080" algn="just">
              <a:lnSpc>
                <a:spcPct val="150000"/>
              </a:lnSpc>
              <a:spcBef>
                <a:spcPts val="570"/>
              </a:spcBef>
            </a:pP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By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conducting</a:t>
            </a:r>
            <a:r>
              <a:rPr sz="1350" spc="-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full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software-</a:t>
            </a:r>
            <a:r>
              <a:rPr sz="1350" spc="-70" dirty="0">
                <a:solidFill>
                  <a:srgbClr val="334155"/>
                </a:solidFill>
                <a:latin typeface="Roboto"/>
                <a:cs typeface="Roboto"/>
              </a:rPr>
              <a:t>in-</a:t>
            </a:r>
            <a:r>
              <a:rPr sz="1350" spc="-75" dirty="0">
                <a:solidFill>
                  <a:srgbClr val="334155"/>
                </a:solidFill>
                <a:latin typeface="Roboto"/>
                <a:cs typeface="Roboto"/>
              </a:rPr>
              <a:t>the-</a:t>
            </a:r>
            <a:r>
              <a:rPr sz="1350" spc="-70" dirty="0">
                <a:solidFill>
                  <a:srgbClr val="334155"/>
                </a:solidFill>
                <a:latin typeface="Roboto"/>
                <a:cs typeface="Roboto"/>
              </a:rPr>
              <a:t>loop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(SIL)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testing</a:t>
            </a:r>
            <a:r>
              <a:rPr sz="1350" spc="-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with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70" dirty="0">
                <a:solidFill>
                  <a:srgbClr val="334155"/>
                </a:solidFill>
                <a:latin typeface="Roboto"/>
                <a:cs typeface="Roboto"/>
              </a:rPr>
              <a:t>S7-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PLCSIM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Factory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I/O,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control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logic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bugs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edge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cases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are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resolved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prior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to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physical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implementation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on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site.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Performance</a:t>
            </a:r>
            <a:r>
              <a:rPr spc="-305" dirty="0"/>
              <a:t> </a:t>
            </a:r>
            <a:r>
              <a:rPr spc="-265" dirty="0"/>
              <a:t>&amp;</a:t>
            </a:r>
            <a:r>
              <a:rPr spc="-295" dirty="0"/>
              <a:t> </a:t>
            </a:r>
            <a:r>
              <a:rPr spc="-110" dirty="0"/>
              <a:t>Precision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285875"/>
            <a:ext cx="11048999" cy="50958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49756" y="4800091"/>
            <a:ext cx="168719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i="1" spc="-25" dirty="0">
                <a:solidFill>
                  <a:srgbClr val="334155"/>
                </a:solidFill>
                <a:latin typeface="Roboto"/>
                <a:cs typeface="Roboto"/>
              </a:rPr>
              <a:t>Virtual</a:t>
            </a:r>
            <a:r>
              <a:rPr sz="1350" i="1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25" dirty="0">
                <a:solidFill>
                  <a:srgbClr val="334155"/>
                </a:solidFill>
                <a:latin typeface="Roboto"/>
                <a:cs typeface="Roboto"/>
              </a:rPr>
              <a:t>commissioning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75303" y="4892167"/>
            <a:ext cx="120650" cy="920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178035" y="4800091"/>
            <a:ext cx="219710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i="1" spc="-20" dirty="0">
                <a:solidFill>
                  <a:srgbClr val="334155"/>
                </a:solidFill>
                <a:latin typeface="Roboto"/>
                <a:cs typeface="Roboto"/>
              </a:rPr>
              <a:t>ith</a:t>
            </a:r>
            <a:r>
              <a:rPr sz="1350" i="1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35" dirty="0">
                <a:solidFill>
                  <a:srgbClr val="334155"/>
                </a:solidFill>
                <a:latin typeface="Roboto"/>
                <a:cs typeface="Roboto"/>
              </a:rPr>
              <a:t>Factory</a:t>
            </a:r>
            <a:r>
              <a:rPr sz="1350" i="1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20" dirty="0">
                <a:solidFill>
                  <a:srgbClr val="334155"/>
                </a:solidFill>
                <a:latin typeface="Roboto"/>
                <a:cs typeface="Roboto"/>
              </a:rPr>
              <a:t>I/O</a:t>
            </a:r>
            <a:r>
              <a:rPr sz="1350" i="1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40" dirty="0">
                <a:solidFill>
                  <a:srgbClr val="334155"/>
                </a:solidFill>
                <a:latin typeface="Roboto"/>
                <a:cs typeface="Roboto"/>
              </a:rPr>
              <a:t>dramatically</a:t>
            </a:r>
            <a:r>
              <a:rPr sz="1350" i="1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25" dirty="0">
                <a:solidFill>
                  <a:srgbClr val="334155"/>
                </a:solidFill>
                <a:latin typeface="Roboto"/>
                <a:cs typeface="Roboto"/>
              </a:rPr>
              <a:t>lo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71619" y="4892167"/>
            <a:ext cx="120650" cy="920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474480" y="4800091"/>
            <a:ext cx="535432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i="1" spc="-10" dirty="0">
                <a:solidFill>
                  <a:srgbClr val="334155"/>
                </a:solidFill>
                <a:latin typeface="Roboto"/>
                <a:cs typeface="Roboto"/>
              </a:rPr>
              <a:t>ers</a:t>
            </a:r>
            <a:r>
              <a:rPr sz="1350" i="1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35" dirty="0">
                <a:solidFill>
                  <a:srgbClr val="334155"/>
                </a:solidFill>
                <a:latin typeface="Roboto"/>
                <a:cs typeface="Roboto"/>
              </a:rPr>
              <a:t>deployment</a:t>
            </a:r>
            <a:r>
              <a:rPr sz="1350" i="1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20" dirty="0">
                <a:solidFill>
                  <a:srgbClr val="334155"/>
                </a:solidFill>
                <a:latin typeface="Roboto"/>
                <a:cs typeface="Roboto"/>
              </a:rPr>
              <a:t>risk</a:t>
            </a:r>
            <a:r>
              <a:rPr sz="1350" i="1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2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1350" i="1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40" dirty="0">
                <a:solidFill>
                  <a:srgbClr val="334155"/>
                </a:solidFill>
                <a:latin typeface="Roboto"/>
                <a:cs typeface="Roboto"/>
              </a:rPr>
              <a:t>dramatically </a:t>
            </a:r>
            <a:r>
              <a:rPr sz="1350" i="1" spc="-30" dirty="0">
                <a:solidFill>
                  <a:srgbClr val="334155"/>
                </a:solidFill>
                <a:latin typeface="Roboto"/>
                <a:cs typeface="Roboto"/>
              </a:rPr>
              <a:t>speeds</a:t>
            </a:r>
            <a:r>
              <a:rPr sz="1350" i="1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10" dirty="0">
                <a:solidFill>
                  <a:srgbClr val="334155"/>
                </a:solidFill>
                <a:latin typeface="Roboto"/>
                <a:cs typeface="Roboto"/>
              </a:rPr>
              <a:t>up</a:t>
            </a:r>
            <a:r>
              <a:rPr sz="1350" i="1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10" dirty="0">
                <a:solidFill>
                  <a:srgbClr val="334155"/>
                </a:solidFill>
                <a:latin typeface="Roboto"/>
                <a:cs typeface="Roboto"/>
              </a:rPr>
              <a:t>code</a:t>
            </a:r>
            <a:r>
              <a:rPr sz="1350" i="1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30" dirty="0">
                <a:solidFill>
                  <a:srgbClr val="334155"/>
                </a:solidFill>
                <a:latin typeface="Roboto"/>
                <a:cs typeface="Roboto"/>
              </a:rPr>
              <a:t>veriﬁcation</a:t>
            </a:r>
            <a:r>
              <a:rPr sz="1350" i="1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10" dirty="0">
                <a:solidFill>
                  <a:srgbClr val="334155"/>
                </a:solidFill>
                <a:latin typeface="Roboto"/>
                <a:cs typeface="Roboto"/>
              </a:rPr>
              <a:t>cycles.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Virtual</a:t>
            </a:r>
            <a:r>
              <a:rPr spc="-285" dirty="0"/>
              <a:t> </a:t>
            </a:r>
            <a:r>
              <a:rPr spc="-75" dirty="0"/>
              <a:t>vs</a:t>
            </a:r>
            <a:r>
              <a:rPr spc="-285" dirty="0"/>
              <a:t> </a:t>
            </a:r>
            <a:r>
              <a:rPr spc="-100" dirty="0"/>
              <a:t>Physical</a:t>
            </a:r>
            <a:r>
              <a:rPr spc="-285" dirty="0"/>
              <a:t> </a:t>
            </a:r>
            <a:r>
              <a:rPr spc="-60" dirty="0"/>
              <a:t>Setup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8921" y="3553688"/>
            <a:ext cx="7237730" cy="4514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75" spc="517" baseline="-24366" dirty="0">
                <a:solidFill>
                  <a:srgbClr val="0F172A"/>
                </a:solidFill>
                <a:latin typeface="Lucida Sans Unicode"/>
                <a:cs typeface="Lucida Sans Unicode"/>
              </a:rPr>
              <a:t>a</a:t>
            </a:r>
            <a:r>
              <a:rPr sz="4275" spc="-75" baseline="-24366" dirty="0">
                <a:solidFill>
                  <a:srgbClr val="0F172A"/>
                </a:solidFill>
                <a:latin typeface="Lucida Sans Unicode"/>
                <a:cs typeface="Lucida Sans Unicode"/>
              </a:rPr>
              <a:t> </a:t>
            </a:r>
            <a:r>
              <a:rPr sz="4275" baseline="-24366" dirty="0">
                <a:solidFill>
                  <a:srgbClr val="0F172A"/>
                </a:solidFill>
                <a:latin typeface="Lucida Sans Unicode"/>
                <a:cs typeface="Lucida Sans Unicode"/>
              </a:rPr>
              <a:t>safe,</a:t>
            </a:r>
            <a:r>
              <a:rPr sz="4275" spc="-75" baseline="-24366" dirty="0">
                <a:solidFill>
                  <a:srgbClr val="0F172A"/>
                </a:solidFill>
                <a:latin typeface="Lucida Sans Unicode"/>
                <a:cs typeface="Lucida Sans Unicode"/>
              </a:rPr>
              <a:t> </a:t>
            </a:r>
            <a:r>
              <a:rPr sz="4275" baseline="-24366" dirty="0">
                <a:solidFill>
                  <a:srgbClr val="0F172A"/>
                </a:solidFill>
                <a:latin typeface="Lucida Sans Unicode"/>
                <a:cs typeface="Lucida Sans Unicode"/>
              </a:rPr>
              <a:t>visual,</a:t>
            </a:r>
            <a:r>
              <a:rPr sz="4275" spc="-75" baseline="-24366" dirty="0">
                <a:solidFill>
                  <a:srgbClr val="0F172A"/>
                </a:solidFill>
                <a:latin typeface="Lucida Sans Unicode"/>
                <a:cs typeface="Lucida Sans Unicode"/>
              </a:rPr>
              <a:t> </a:t>
            </a:r>
            <a:r>
              <a:rPr sz="4275" spc="277" baseline="-24366" dirty="0">
                <a:solidFill>
                  <a:srgbClr val="0F172A"/>
                </a:solidFill>
                <a:latin typeface="Lucida Sans Unicode"/>
                <a:cs typeface="Lucida Sans Unicode"/>
              </a:rPr>
              <a:t>and</a:t>
            </a:r>
            <a:r>
              <a:rPr sz="4275" spc="-75" baseline="-24366" dirty="0">
                <a:solidFill>
                  <a:srgbClr val="0F172A"/>
                </a:solidFill>
                <a:latin typeface="Lucida Sans Unicode"/>
                <a:cs typeface="Lucida Sans Unicode"/>
              </a:rPr>
              <a:t> </a:t>
            </a:r>
            <a:r>
              <a:rPr sz="4275" spc="-15" baseline="-24366" dirty="0" err="1">
                <a:solidFill>
                  <a:srgbClr val="0F172A"/>
                </a:solidFill>
                <a:latin typeface="Lucida Sans Unicode"/>
                <a:cs typeface="Lucida Sans Unicode"/>
              </a:rPr>
              <a:t>hi</a:t>
            </a:r>
            <a:r>
              <a:rPr sz="4275" spc="-2310" baseline="-24366" dirty="0" err="1">
                <a:solidFill>
                  <a:srgbClr val="0F172A"/>
                </a:solidFill>
                <a:latin typeface="Lucida Sans Unicode"/>
                <a:cs typeface="Lucida Sans Unicode"/>
              </a:rPr>
              <a:t>g</a:t>
            </a:r>
            <a:r>
              <a:rPr sz="1200" b="1" spc="-10" dirty="0">
                <a:solidFill>
                  <a:srgbClr val="0284C7"/>
                </a:solidFill>
                <a:latin typeface="Roboto"/>
                <a:cs typeface="Roboto"/>
              </a:rPr>
              <a:t>—</a:t>
            </a:r>
            <a:r>
              <a:rPr lang="en-US" sz="1200" b="1" spc="45" dirty="0">
                <a:solidFill>
                  <a:srgbClr val="0284C7"/>
                </a:solidFill>
                <a:latin typeface="Roboto"/>
                <a:cs typeface="Roboto"/>
              </a:rPr>
              <a:t>  </a:t>
            </a:r>
            <a:endParaRPr sz="1200" dirty="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0" y="3670951"/>
            <a:ext cx="6986055" cy="4514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50" spc="55" dirty="0" err="1">
                <a:solidFill>
                  <a:srgbClr val="0F172A"/>
                </a:solidFill>
                <a:latin typeface="Lucida Sans Unicode"/>
                <a:cs typeface="Lucida Sans Unicode"/>
              </a:rPr>
              <a:t>hly</a:t>
            </a:r>
            <a:r>
              <a:rPr lang="en-US" sz="2850" spc="55" dirty="0">
                <a:solidFill>
                  <a:srgbClr val="0F172A"/>
                </a:solidFill>
                <a:latin typeface="Lucida Sans Unicode"/>
                <a:cs typeface="Lucida Sans Unicode"/>
              </a:rPr>
              <a:t> deterministic e</a:t>
            </a:r>
            <a:r>
              <a:rPr sz="2850" spc="55" dirty="0">
                <a:solidFill>
                  <a:srgbClr val="0F172A"/>
                </a:solidFill>
                <a:latin typeface="Lucida Sans Unicode"/>
                <a:cs typeface="Lucida Sans Unicode"/>
              </a:rPr>
              <a:t>ngineering</a:t>
            </a:r>
            <a:r>
              <a:rPr sz="2850" spc="-125" dirty="0">
                <a:solidFill>
                  <a:srgbClr val="0F172A"/>
                </a:solidFill>
                <a:latin typeface="Lucida Sans Unicode"/>
                <a:cs typeface="Lucida Sans Unicode"/>
              </a:rPr>
              <a:t> </a:t>
            </a:r>
            <a:r>
              <a:rPr sz="2850" spc="45" dirty="0">
                <a:solidFill>
                  <a:srgbClr val="0F172A"/>
                </a:solidFill>
                <a:latin typeface="Lucida Sans Unicode"/>
                <a:cs typeface="Lucida Sans Unicode"/>
              </a:rPr>
              <a:t>process.</a:t>
            </a:r>
            <a:endParaRPr sz="2850" dirty="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35958" y="4296569"/>
            <a:ext cx="391414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2260" marR="5080" indent="-1560195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0284C7"/>
                </a:solidFill>
                <a:latin typeface="Roboto"/>
                <a:cs typeface="Roboto"/>
              </a:rPr>
              <a:t>—</a:t>
            </a:r>
            <a:r>
              <a:rPr sz="1650" b="1" spc="-75" dirty="0">
                <a:solidFill>
                  <a:srgbClr val="0284C7"/>
                </a:solidFill>
                <a:latin typeface="Roboto"/>
                <a:cs typeface="Roboto"/>
              </a:rPr>
              <a:t> </a:t>
            </a:r>
            <a:r>
              <a:rPr sz="1650" b="1" spc="-10" dirty="0">
                <a:solidFill>
                  <a:srgbClr val="0284C7"/>
                </a:solidFill>
                <a:latin typeface="Roboto"/>
                <a:cs typeface="Roboto"/>
              </a:rPr>
              <a:t>Industrial</a:t>
            </a:r>
            <a:r>
              <a:rPr sz="1650" b="1" spc="-70" dirty="0">
                <a:solidFill>
                  <a:srgbClr val="0284C7"/>
                </a:solidFill>
                <a:latin typeface="Roboto"/>
                <a:cs typeface="Roboto"/>
              </a:rPr>
              <a:t> </a:t>
            </a:r>
            <a:r>
              <a:rPr sz="1650" b="1" spc="-10" dirty="0">
                <a:solidFill>
                  <a:srgbClr val="0284C7"/>
                </a:solidFill>
                <a:latin typeface="Roboto"/>
                <a:cs typeface="Roboto"/>
              </a:rPr>
              <a:t>Automation</a:t>
            </a:r>
            <a:r>
              <a:rPr sz="1650" b="1" spc="-70" dirty="0">
                <a:solidFill>
                  <a:srgbClr val="0284C7"/>
                </a:solidFill>
                <a:latin typeface="Roboto"/>
                <a:cs typeface="Roboto"/>
              </a:rPr>
              <a:t> </a:t>
            </a:r>
            <a:r>
              <a:rPr sz="1650" b="1" dirty="0">
                <a:solidFill>
                  <a:srgbClr val="0284C7"/>
                </a:solidFill>
                <a:latin typeface="Roboto"/>
                <a:cs typeface="Roboto"/>
              </a:rPr>
              <a:t>Engineering</a:t>
            </a:r>
            <a:r>
              <a:rPr sz="1650" b="1" spc="-75" dirty="0">
                <a:solidFill>
                  <a:srgbClr val="0284C7"/>
                </a:solidFill>
                <a:latin typeface="Roboto"/>
                <a:cs typeface="Roboto"/>
              </a:rPr>
              <a:t> </a:t>
            </a:r>
            <a:r>
              <a:rPr sz="1650" b="1" spc="-20" dirty="0">
                <a:solidFill>
                  <a:srgbClr val="0284C7"/>
                </a:solidFill>
                <a:latin typeface="Roboto"/>
                <a:cs typeface="Roboto"/>
              </a:rPr>
              <a:t>Best </a:t>
            </a:r>
            <a:r>
              <a:rPr sz="1650" b="1" spc="-10" dirty="0">
                <a:solidFill>
                  <a:srgbClr val="0284C7"/>
                </a:solidFill>
                <a:latin typeface="Roboto"/>
                <a:cs typeface="Roboto"/>
              </a:rPr>
              <a:t>Practice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52400" y="2303619"/>
            <a:ext cx="1146111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0" baseline="7716" dirty="0">
                <a:solidFill>
                  <a:srgbClr val="BAE6FC"/>
                </a:solidFill>
                <a:latin typeface="Lucida Sans Unicode"/>
                <a:cs typeface="Lucida Sans Unicode"/>
              </a:rPr>
              <a:t>"</a:t>
            </a:r>
            <a:r>
              <a:rPr sz="2850" dirty="0">
                <a:solidFill>
                  <a:srgbClr val="0F172A"/>
                </a:solidFill>
                <a:latin typeface="Lucida Sans Unicode"/>
                <a:cs typeface="Lucida Sans Unicode"/>
              </a:rPr>
              <a:t>Digital</a:t>
            </a:r>
            <a:r>
              <a:rPr sz="2850" spc="-105" dirty="0">
                <a:solidFill>
                  <a:srgbClr val="0F172A"/>
                </a:solidFill>
                <a:latin typeface="Lucida Sans Unicode"/>
                <a:cs typeface="Lucida Sans Unicode"/>
              </a:rPr>
              <a:t> </a:t>
            </a:r>
            <a:r>
              <a:rPr sz="2850" dirty="0">
                <a:solidFill>
                  <a:srgbClr val="0F172A"/>
                </a:solidFill>
                <a:latin typeface="Lucida Sans Unicode"/>
                <a:cs typeface="Lucida Sans Unicode"/>
              </a:rPr>
              <a:t>twin</a:t>
            </a:r>
            <a:r>
              <a:rPr sz="2850" spc="-105" dirty="0">
                <a:solidFill>
                  <a:srgbClr val="0F172A"/>
                </a:solidFill>
                <a:latin typeface="Lucida Sans Unicode"/>
                <a:cs typeface="Lucida Sans Unicode"/>
              </a:rPr>
              <a:t> </a:t>
            </a:r>
            <a:r>
              <a:rPr sz="2850" spc="70" dirty="0">
                <a:solidFill>
                  <a:srgbClr val="0F172A"/>
                </a:solidFill>
                <a:latin typeface="Lucida Sans Unicode"/>
                <a:cs typeface="Lucida Sans Unicode"/>
              </a:rPr>
              <a:t>simulation</a:t>
            </a:r>
            <a:r>
              <a:rPr sz="2850" spc="-105" dirty="0">
                <a:solidFill>
                  <a:srgbClr val="0F172A"/>
                </a:solidFill>
                <a:latin typeface="Lucida Sans Unicode"/>
                <a:cs typeface="Lucida Sans Unicode"/>
              </a:rPr>
              <a:t> </a:t>
            </a:r>
            <a:r>
              <a:rPr sz="2850" dirty="0">
                <a:solidFill>
                  <a:srgbClr val="0F172A"/>
                </a:solidFill>
                <a:latin typeface="Lucida Sans Unicode"/>
                <a:cs typeface="Lucida Sans Unicode"/>
              </a:rPr>
              <a:t>turns</a:t>
            </a:r>
            <a:r>
              <a:rPr sz="2850" spc="-105" dirty="0">
                <a:solidFill>
                  <a:srgbClr val="0F172A"/>
                </a:solidFill>
                <a:latin typeface="Lucida Sans Unicode"/>
                <a:cs typeface="Lucida Sans Unicode"/>
              </a:rPr>
              <a:t> </a:t>
            </a:r>
            <a:r>
              <a:rPr sz="2850" spc="65" dirty="0">
                <a:solidFill>
                  <a:srgbClr val="0F172A"/>
                </a:solidFill>
                <a:latin typeface="Lucida Sans Unicode"/>
                <a:cs typeface="Lucida Sans Unicode"/>
              </a:rPr>
              <a:t>complex</a:t>
            </a:r>
            <a:r>
              <a:rPr sz="2850" spc="-105" dirty="0">
                <a:solidFill>
                  <a:srgbClr val="0F172A"/>
                </a:solidFill>
                <a:latin typeface="Lucida Sans Unicode"/>
                <a:cs typeface="Lucida Sans Unicode"/>
              </a:rPr>
              <a:t> </a:t>
            </a:r>
            <a:r>
              <a:rPr sz="2850" dirty="0">
                <a:solidFill>
                  <a:srgbClr val="0F172A"/>
                </a:solidFill>
                <a:latin typeface="Lucida Sans Unicode"/>
                <a:cs typeface="Lucida Sans Unicode"/>
              </a:rPr>
              <a:t>PLC</a:t>
            </a:r>
            <a:r>
              <a:rPr sz="2850" spc="-105" dirty="0">
                <a:solidFill>
                  <a:srgbClr val="0F172A"/>
                </a:solidFill>
                <a:latin typeface="Lucida Sans Unicode"/>
                <a:cs typeface="Lucida Sans Unicode"/>
              </a:rPr>
              <a:t> </a:t>
            </a:r>
            <a:r>
              <a:rPr sz="2850" spc="120" dirty="0">
                <a:solidFill>
                  <a:srgbClr val="0F172A"/>
                </a:solidFill>
                <a:latin typeface="Lucida Sans Unicode"/>
                <a:cs typeface="Lucida Sans Unicode"/>
              </a:rPr>
              <a:t>programming</a:t>
            </a:r>
            <a:r>
              <a:rPr sz="2850" spc="-105" dirty="0">
                <a:solidFill>
                  <a:srgbClr val="0F172A"/>
                </a:solidFill>
                <a:latin typeface="Lucida Sans Unicode"/>
                <a:cs typeface="Lucida Sans Unicode"/>
              </a:rPr>
              <a:t> </a:t>
            </a:r>
            <a:r>
              <a:rPr sz="2850" spc="-20" dirty="0">
                <a:solidFill>
                  <a:srgbClr val="0F172A"/>
                </a:solidFill>
                <a:latin typeface="Lucida Sans Unicode"/>
                <a:cs typeface="Lucida Sans Unicode"/>
              </a:rPr>
              <a:t>into</a:t>
            </a:r>
            <a:endParaRPr sz="28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8800" y="449834"/>
            <a:ext cx="3491229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05" dirty="0">
                <a:solidFill>
                  <a:srgbClr val="0368A1"/>
                </a:solidFill>
                <a:latin typeface="Arial Black"/>
                <a:cs typeface="Arial Black"/>
              </a:rPr>
              <a:t>Engineering</a:t>
            </a:r>
            <a:r>
              <a:rPr sz="2700" spc="-229" dirty="0">
                <a:solidFill>
                  <a:srgbClr val="0368A1"/>
                </a:solidFill>
                <a:latin typeface="Arial Black"/>
                <a:cs typeface="Arial Black"/>
              </a:rPr>
              <a:t> </a:t>
            </a:r>
            <a:r>
              <a:rPr sz="2700" spc="-20" dirty="0">
                <a:solidFill>
                  <a:srgbClr val="0368A1"/>
                </a:solidFill>
                <a:latin typeface="Arial Black"/>
                <a:cs typeface="Arial Black"/>
              </a:rPr>
              <a:t>Impact</a:t>
            </a:r>
            <a:endParaRPr sz="27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 descr="$PPTXTitle">
            <a:extLst>
              <a:ext uri="{FF2B5EF4-FFF2-40B4-BE49-F238E27FC236}">
                <a16:creationId xmlns:a16="http://schemas.microsoft.com/office/drawing/2014/main" id="{A7652425-52CF-5391-89E6-934752C1D0C3}"/>
              </a:ext>
            </a:extLst>
          </p:cNvPr>
          <p:cNvSpPr txBox="1">
            <a:spLocks/>
          </p:cNvSpPr>
          <p:nvPr/>
        </p:nvSpPr>
        <p:spPr>
          <a:xfrm>
            <a:off x="1965238" y="2164905"/>
            <a:ext cx="8261523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700" b="0" i="0">
                <a:solidFill>
                  <a:srgbClr val="0368A1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5400" spc="-204"/>
              <a:t>Questions</a:t>
            </a:r>
            <a:r>
              <a:rPr lang="en-US" sz="5400" spc="-630"/>
              <a:t> </a:t>
            </a:r>
            <a:r>
              <a:rPr lang="en-US" sz="5400" spc="-530"/>
              <a:t>&amp;</a:t>
            </a:r>
            <a:r>
              <a:rPr lang="en-US" sz="5400" spc="-625"/>
              <a:t> </a:t>
            </a:r>
            <a:r>
              <a:rPr lang="en-US" sz="5400" spc="-175"/>
              <a:t>Discussion</a:t>
            </a:r>
            <a:endParaRPr lang="en-US" sz="5400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12D89802-E895-A3C3-7133-E20C1AF8B676}"/>
              </a:ext>
            </a:extLst>
          </p:cNvPr>
          <p:cNvSpPr txBox="1"/>
          <p:nvPr/>
        </p:nvSpPr>
        <p:spPr>
          <a:xfrm>
            <a:off x="3173337" y="3227133"/>
            <a:ext cx="58413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34285" marR="5080" indent="-2522220">
              <a:lnSpc>
                <a:spcPct val="150000"/>
              </a:lnSpc>
              <a:spcBef>
                <a:spcPts val="100"/>
              </a:spcBef>
            </a:pPr>
            <a:r>
              <a:rPr lang="en-US" sz="1800" spc="-10" dirty="0">
                <a:solidFill>
                  <a:srgbClr val="334155"/>
                </a:solidFill>
                <a:latin typeface="Roboto"/>
                <a:cs typeface="Roboto"/>
              </a:rPr>
              <a:t>                            </a:t>
            </a:r>
            <a:r>
              <a:rPr sz="1800" spc="-10" dirty="0">
                <a:solidFill>
                  <a:srgbClr val="334155"/>
                </a:solidFill>
                <a:latin typeface="Roboto"/>
                <a:cs typeface="Roboto"/>
              </a:rPr>
              <a:t>Thank</a:t>
            </a:r>
            <a:r>
              <a:rPr sz="180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34155"/>
                </a:solidFill>
                <a:latin typeface="Roboto"/>
                <a:cs typeface="Roboto"/>
              </a:rPr>
              <a:t>you</a:t>
            </a:r>
            <a:r>
              <a:rPr sz="180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334155"/>
                </a:solidFill>
                <a:latin typeface="Roboto"/>
                <a:cs typeface="Roboto"/>
              </a:rPr>
              <a:t>for</a:t>
            </a:r>
            <a:r>
              <a:rPr sz="180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lang="en-US" sz="1800" spc="-20" dirty="0">
                <a:solidFill>
                  <a:srgbClr val="334155"/>
                </a:solidFill>
                <a:latin typeface="Roboto"/>
                <a:cs typeface="Roboto"/>
              </a:rPr>
              <a:t>attention</a:t>
            </a:r>
            <a:r>
              <a:rPr sz="1800" spc="-10" dirty="0">
                <a:solidFill>
                  <a:srgbClr val="334155"/>
                </a:solidFill>
                <a:latin typeface="Roboto"/>
                <a:cs typeface="Roboto"/>
              </a:rPr>
              <a:t>!</a:t>
            </a:r>
            <a:endParaRPr sz="1800" dirty="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15975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77D21E70-FD94-6789-0249-795752BFB582}"/>
              </a:ext>
            </a:extLst>
          </p:cNvPr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icons/github_white.png">
            <a:extLst>
              <a:ext uri="{FF2B5EF4-FFF2-40B4-BE49-F238E27FC236}">
                <a16:creationId xmlns:a16="http://schemas.microsoft.com/office/drawing/2014/main" id="{6F46B56A-DAB0-4601-D863-B4E446403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9" y="584759"/>
            <a:ext cx="311810" cy="311810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AAD4DEB9-466B-93D1-6D17-B57710328542}"/>
              </a:ext>
            </a:extLst>
          </p:cNvPr>
          <p:cNvSpPr/>
          <p:nvPr/>
        </p:nvSpPr>
        <p:spPr>
          <a:xfrm>
            <a:off x="1188720" y="43891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и материалы проекта</a:t>
            </a:r>
            <a:endParaRPr lang="en-US" sz="30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576C6A6A-7415-D949-44AE-7EC6C6511B3D}"/>
              </a:ext>
            </a:extLst>
          </p:cNvPr>
          <p:cNvSpPr/>
          <p:nvPr/>
        </p:nvSpPr>
        <p:spPr>
          <a:xfrm>
            <a:off x="457200" y="1508760"/>
            <a:ext cx="11247120" cy="1005840"/>
          </a:xfrm>
          <a:prstGeom prst="roundRect">
            <a:avLst>
              <a:gd name="adj" fmla="val 8182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B25D7363-B3A1-2C2D-E7A8-C2F5A5C3F6DC}"/>
              </a:ext>
            </a:extLst>
          </p:cNvPr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/home/claude/icons/github_white.png">
            <a:extLst>
              <a:ext uri="{FF2B5EF4-FFF2-40B4-BE49-F238E27FC236}">
                <a16:creationId xmlns:a16="http://schemas.microsoft.com/office/drawing/2014/main" id="{7A431CAA-6E37-6AED-2781-C20786A1C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819656"/>
            <a:ext cx="384048" cy="384048"/>
          </a:xfrm>
          <a:prstGeom prst="rect">
            <a:avLst/>
          </a:prstGeom>
        </p:spPr>
      </p:pic>
      <p:sp>
        <p:nvSpPr>
          <p:cNvPr id="19" name="Text 4">
            <a:extLst>
              <a:ext uri="{FF2B5EF4-FFF2-40B4-BE49-F238E27FC236}">
                <a16:creationId xmlns:a16="http://schemas.microsoft.com/office/drawing/2014/main" id="{A76633EB-2D28-10B2-270C-410A7515A121}"/>
              </a:ext>
            </a:extLst>
          </p:cNvPr>
          <p:cNvSpPr/>
          <p:nvPr/>
        </p:nvSpPr>
        <p:spPr>
          <a:xfrm>
            <a:off x="1600200" y="15087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github.com/ViyeiraAlmaz/Gantry-Robot</a:t>
            </a:r>
            <a:endParaRPr lang="en-US" sz="1700" dirty="0"/>
          </a:p>
        </p:txBody>
      </p:sp>
      <p:sp>
        <p:nvSpPr>
          <p:cNvPr id="21" name="object 2">
            <a:extLst>
              <a:ext uri="{FF2B5EF4-FFF2-40B4-BE49-F238E27FC236}">
                <a16:creationId xmlns:a16="http://schemas.microsoft.com/office/drawing/2014/main" id="{B7B3AEC8-4C6D-7F9A-0EAA-B951EFDAC765}"/>
              </a:ext>
            </a:extLst>
          </p:cNvPr>
          <p:cNvSpPr/>
          <p:nvPr/>
        </p:nvSpPr>
        <p:spPr>
          <a:xfrm>
            <a:off x="2376474" y="3829062"/>
            <a:ext cx="7439025" cy="9525"/>
          </a:xfrm>
          <a:custGeom>
            <a:avLst/>
            <a:gdLst/>
            <a:ahLst/>
            <a:cxnLst/>
            <a:rect l="l" t="t" r="r" b="b"/>
            <a:pathLst>
              <a:path w="7439025" h="9525">
                <a:moveTo>
                  <a:pt x="7439025" y="0"/>
                </a:moveTo>
                <a:lnTo>
                  <a:pt x="0" y="0"/>
                </a:lnTo>
                <a:lnTo>
                  <a:pt x="0" y="9525"/>
                </a:lnTo>
                <a:lnTo>
                  <a:pt x="7439025" y="9525"/>
                </a:lnTo>
                <a:lnTo>
                  <a:pt x="7439025" y="0"/>
                </a:lnTo>
                <a:close/>
              </a:path>
            </a:pathLst>
          </a:custGeom>
          <a:solidFill>
            <a:srgbClr val="757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3">
            <a:extLst>
              <a:ext uri="{FF2B5EF4-FFF2-40B4-BE49-F238E27FC236}">
                <a16:creationId xmlns:a16="http://schemas.microsoft.com/office/drawing/2014/main" id="{50FE4AD0-9E63-CA93-EBB9-DA6F6495EB2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6487" y="3209925"/>
            <a:ext cx="857249" cy="476249"/>
          </a:xfrm>
          <a:prstGeom prst="rect">
            <a:avLst/>
          </a:prstGeom>
        </p:spPr>
      </p:pic>
      <p:pic>
        <p:nvPicPr>
          <p:cNvPr id="25" name="object 4">
            <a:extLst>
              <a:ext uri="{FF2B5EF4-FFF2-40B4-BE49-F238E27FC236}">
                <a16:creationId xmlns:a16="http://schemas.microsoft.com/office/drawing/2014/main" id="{3883F0A4-27F0-694B-344D-A11713BD77F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76487" y="3981450"/>
            <a:ext cx="857249" cy="476249"/>
          </a:xfrm>
          <a:prstGeom prst="rect">
            <a:avLst/>
          </a:prstGeom>
        </p:spPr>
      </p:pic>
      <p:sp>
        <p:nvSpPr>
          <p:cNvPr id="27" name="object 5">
            <a:extLst>
              <a:ext uri="{FF2B5EF4-FFF2-40B4-BE49-F238E27FC236}">
                <a16:creationId xmlns:a16="http://schemas.microsoft.com/office/drawing/2014/main" id="{A712DEC0-3F90-56D2-B702-26EE795643E4}"/>
              </a:ext>
            </a:extLst>
          </p:cNvPr>
          <p:cNvSpPr txBox="1"/>
          <p:nvPr/>
        </p:nvSpPr>
        <p:spPr>
          <a:xfrm>
            <a:off x="3421062" y="3131465"/>
            <a:ext cx="6412230" cy="183896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60"/>
              </a:spcBef>
            </a:pPr>
            <a:r>
              <a:rPr sz="950" spc="-10" dirty="0">
                <a:solidFill>
                  <a:srgbClr val="334155"/>
                </a:solidFill>
                <a:latin typeface="Roboto"/>
                <a:cs typeface="Roboto"/>
                <a:hlinkClick r:id="rId5"/>
              </a:rPr>
              <a:t>https://assets.rexroth.mam.bosch.tech/assets/api/acbcfafd-</a:t>
            </a:r>
            <a:r>
              <a:rPr sz="950" spc="-25" dirty="0">
                <a:solidFill>
                  <a:srgbClr val="334155"/>
                </a:solidFill>
                <a:latin typeface="Roboto"/>
                <a:cs typeface="Roboto"/>
                <a:hlinkClick r:id="rId5"/>
              </a:rPr>
              <a:t>4781-4241-ad24-</a:t>
            </a:r>
            <a:r>
              <a:rPr sz="950" spc="-10" dirty="0">
                <a:solidFill>
                  <a:srgbClr val="334155"/>
                </a:solidFill>
                <a:latin typeface="Roboto"/>
                <a:cs typeface="Roboto"/>
                <a:hlinkClick r:id="rId5"/>
              </a:rPr>
              <a:t>6decaab9b398/dc_ecommerce_big_j</a:t>
            </a:r>
            <a:endParaRPr sz="950" dirty="0">
              <a:latin typeface="Roboto"/>
              <a:cs typeface="Roboto"/>
            </a:endParaRPr>
          </a:p>
          <a:p>
            <a:pPr marL="50800">
              <a:lnSpc>
                <a:spcPct val="100000"/>
              </a:lnSpc>
              <a:spcBef>
                <a:spcPts val="660"/>
              </a:spcBef>
            </a:pPr>
            <a:r>
              <a:rPr sz="1425" spc="-839" baseline="17543" dirty="0">
                <a:solidFill>
                  <a:srgbClr val="334155"/>
                </a:solidFill>
                <a:latin typeface="Roboto"/>
                <a:cs typeface="Roboto"/>
              </a:rPr>
              <a:t>p</a:t>
            </a:r>
            <a:r>
              <a:rPr sz="1200" spc="-195" dirty="0">
                <a:solidFill>
                  <a:srgbClr val="334155"/>
                </a:solidFill>
                <a:latin typeface="Roboto"/>
                <a:cs typeface="Roboto"/>
              </a:rPr>
              <a:t>S</a:t>
            </a:r>
            <a:r>
              <a:rPr sz="1425" spc="-600" baseline="17543" dirty="0">
                <a:solidFill>
                  <a:srgbClr val="334155"/>
                </a:solidFill>
                <a:latin typeface="Roboto"/>
                <a:cs typeface="Roboto"/>
              </a:rPr>
              <a:t>g</a:t>
            </a:r>
            <a:r>
              <a:rPr sz="1200" spc="-25" dirty="0">
                <a:solidFill>
                  <a:srgbClr val="334155"/>
                </a:solidFill>
                <a:latin typeface="Roboto"/>
                <a:cs typeface="Roboto"/>
              </a:rPr>
              <a:t>ou</a:t>
            </a:r>
            <a:r>
              <a:rPr sz="1200" spc="-35" dirty="0">
                <a:solidFill>
                  <a:srgbClr val="334155"/>
                </a:solidFill>
                <a:latin typeface="Roboto"/>
                <a:cs typeface="Roboto"/>
              </a:rPr>
              <a:t>r</a:t>
            </a:r>
            <a:r>
              <a:rPr sz="1200" spc="-20" dirty="0">
                <a:solidFill>
                  <a:srgbClr val="334155"/>
                </a:solidFill>
                <a:latin typeface="Roboto"/>
                <a:cs typeface="Roboto"/>
              </a:rPr>
              <a:t>ce</a:t>
            </a:r>
            <a:r>
              <a:rPr sz="1200" spc="-15" dirty="0">
                <a:solidFill>
                  <a:srgbClr val="334155"/>
                </a:solidFill>
                <a:latin typeface="Roboto"/>
                <a:cs typeface="Roboto"/>
              </a:rPr>
              <a:t>:</a:t>
            </a:r>
            <a:r>
              <a:rPr sz="1200" spc="6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F46E4"/>
                </a:solidFill>
                <a:latin typeface="Roboto"/>
                <a:cs typeface="Roboto"/>
                <a:hlinkClick r:id="rId6"/>
              </a:rPr>
              <a:t>www.boschrexroth.com</a:t>
            </a:r>
            <a:endParaRPr sz="120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390"/>
              </a:spcBef>
            </a:pPr>
            <a:endParaRPr sz="1200" dirty="0">
              <a:latin typeface="Roboto"/>
              <a:cs typeface="Roboto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950" spc="-10" dirty="0">
                <a:solidFill>
                  <a:srgbClr val="334155"/>
                </a:solidFill>
                <a:latin typeface="Roboto"/>
                <a:cs typeface="Roboto"/>
                <a:hlinkClick r:id="rId7"/>
              </a:rPr>
              <a:t>https://cdn.automationforum.co/uploads/2023/08/tia-</a:t>
            </a:r>
            <a:r>
              <a:rPr sz="950" spc="-20" dirty="0">
                <a:solidFill>
                  <a:srgbClr val="334155"/>
                </a:solidFill>
                <a:latin typeface="Roboto"/>
                <a:cs typeface="Roboto"/>
                <a:hlinkClick r:id="rId7"/>
              </a:rPr>
              <a:t>portal-</a:t>
            </a:r>
            <a:r>
              <a:rPr sz="950" spc="-25" dirty="0">
                <a:solidFill>
                  <a:srgbClr val="334155"/>
                </a:solidFill>
                <a:latin typeface="Roboto"/>
                <a:cs typeface="Roboto"/>
                <a:hlinkClick r:id="rId7"/>
              </a:rPr>
              <a:t>21-</a:t>
            </a:r>
            <a:r>
              <a:rPr sz="950" spc="-10" dirty="0">
                <a:solidFill>
                  <a:srgbClr val="334155"/>
                </a:solidFill>
                <a:latin typeface="Roboto"/>
                <a:cs typeface="Roboto"/>
                <a:hlinkClick r:id="rId7"/>
              </a:rPr>
              <a:t>scaled.jpg</a:t>
            </a:r>
            <a:endParaRPr sz="950" dirty="0">
              <a:latin typeface="Roboto"/>
              <a:cs typeface="Roboto"/>
            </a:endParaRPr>
          </a:p>
          <a:p>
            <a:pPr marL="50800">
              <a:lnSpc>
                <a:spcPct val="100000"/>
              </a:lnSpc>
              <a:spcBef>
                <a:spcPts val="660"/>
              </a:spcBef>
            </a:pPr>
            <a:r>
              <a:rPr sz="1200" spc="-10" dirty="0">
                <a:solidFill>
                  <a:srgbClr val="334155"/>
                </a:solidFill>
                <a:latin typeface="Roboto"/>
                <a:cs typeface="Roboto"/>
              </a:rPr>
              <a:t>Source:</a:t>
            </a:r>
            <a:r>
              <a:rPr sz="120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F46E4"/>
                </a:solidFill>
                <a:latin typeface="Roboto"/>
                <a:cs typeface="Roboto"/>
              </a:rPr>
              <a:t>automationforum.co</a:t>
            </a:r>
            <a:r>
              <a:rPr lang="en-US" sz="1200" spc="-10" dirty="0">
                <a:solidFill>
                  <a:srgbClr val="4F46E4"/>
                </a:solidFill>
                <a:latin typeface="Roboto"/>
                <a:cs typeface="Roboto"/>
              </a:rPr>
              <a:t>m</a:t>
            </a:r>
          </a:p>
          <a:p>
            <a:pPr marL="50800">
              <a:lnSpc>
                <a:spcPct val="100000"/>
              </a:lnSpc>
              <a:spcBef>
                <a:spcPts val="660"/>
              </a:spcBef>
            </a:pPr>
            <a:r>
              <a:rPr lang="en-US" sz="1200" spc="-10" dirty="0">
                <a:solidFill>
                  <a:srgbClr val="4F46E4"/>
                </a:solidFill>
                <a:latin typeface="Roboto"/>
                <a:cs typeface="Roboto"/>
                <a:hlinkClick r:id="rId8"/>
              </a:rPr>
              <a:t>https://factoryio.com/</a:t>
            </a:r>
            <a:endParaRPr lang="en-US" sz="1200" spc="-10" dirty="0">
              <a:solidFill>
                <a:srgbClr val="4F46E4"/>
              </a:solidFill>
              <a:latin typeface="Roboto"/>
              <a:cs typeface="Roboto"/>
            </a:endParaRPr>
          </a:p>
          <a:p>
            <a:pPr marL="50800">
              <a:lnSpc>
                <a:spcPct val="100000"/>
              </a:lnSpc>
              <a:spcBef>
                <a:spcPts val="660"/>
              </a:spcBef>
            </a:pPr>
            <a:endParaRPr lang="en-US" sz="1200" spc="-10" dirty="0">
              <a:solidFill>
                <a:srgbClr val="4F46E4"/>
              </a:solidFill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914983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601</Words>
  <Application>Microsoft Office PowerPoint</Application>
  <PresentationFormat>Широкоэкранный</PresentationFormat>
  <Paragraphs>79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 Black</vt:lpstr>
      <vt:lpstr>Calibri</vt:lpstr>
      <vt:lpstr>Cambria</vt:lpstr>
      <vt:lpstr>Courier New</vt:lpstr>
      <vt:lpstr>Lucida Sans Unicode</vt:lpstr>
      <vt:lpstr>Roboto</vt:lpstr>
      <vt:lpstr>Office Theme</vt:lpstr>
      <vt:lpstr>Assembly Unit Control System PLC S7-300 Implementation &amp; 3D Digital Twin Simulation in TIA Portal V20 and Factory I/O</vt:lpstr>
      <vt:lpstr>System Overview &amp; Goals Designing and validating an end-to-end automated assembly line using digital twin technology before hardware deployment.</vt:lpstr>
      <vt:lpstr>Key Software &amp; Hardware</vt:lpstr>
      <vt:lpstr>Factory I/O Assembly Cell</vt:lpstr>
      <vt:lpstr>Core System Architecture</vt:lpstr>
      <vt:lpstr>I/O Signal Mapping</vt:lpstr>
      <vt:lpstr>Sequence of Operations</vt:lpstr>
      <vt:lpstr>PLC Logic in TIA Portal</vt:lpstr>
      <vt:lpstr>Performance &amp; Precision</vt:lpstr>
      <vt:lpstr>Virtual vs Physical Setup</vt:lpstr>
      <vt:lpstr>"Digital twin simulation turns complex PLC programming into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Factory IO Assembly Unit S7-300 Presentation</dc:title>
  <cp:lastModifiedBy>Almaz Viyeira</cp:lastModifiedBy>
  <cp:revision>2</cp:revision>
  <dcterms:created xsi:type="dcterms:W3CDTF">2026-07-28T09:46:42Z</dcterms:created>
  <dcterms:modified xsi:type="dcterms:W3CDTF">2026-08-24T23:06:58Z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2026-07-28T00:00:00Z</vt:filetime>
  </property>
  <property fmtid="{D5CDD505-2E9C-101B-9397-08002B2CF9AE}" pid="4" name="Creator">
    <vt:lpwstr>Google</vt:lpwstr>
  </property>
  <property fmtid="{D5CDD505-2E9C-101B-9397-08002B2CF9AE}" pid="5" name="LastSaved">
    <vt:filetime>2026-07-28T00:00:00Z</vt:filetime>
  </property>
</Properties>
</file>