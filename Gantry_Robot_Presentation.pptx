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970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7627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415A77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АВТОМАТИЗИРОВАННАЯ СБОРОЧНАЯ ЯЧЕЙКА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Gantry Robot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886968" cy="457200"/>
          </a:xfrm>
          <a:prstGeom prst="roundRect">
            <a:avLst>
              <a:gd name="adj" fmla="val 50000"/>
            </a:avLst>
          </a:prstGeom>
          <a:solidFill>
            <a:srgbClr val="415A77"/>
          </a:solidFill>
          <a:ln w="9525">
            <a:solidFill>
              <a:srgbClr val="778D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86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S7-300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11096" y="4160520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415A77"/>
          </a:solidFill>
          <a:ln w="9525">
            <a:solidFill>
              <a:srgbClr val="778D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11096" y="4160520"/>
            <a:ext cx="1728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 Portal V20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4160520"/>
            <a:ext cx="1202436" cy="457200"/>
          </a:xfrm>
          <a:prstGeom prst="roundRect">
            <a:avLst>
              <a:gd name="adj" fmla="val 50000"/>
            </a:avLst>
          </a:prstGeom>
          <a:solidFill>
            <a:srgbClr val="415A77"/>
          </a:solidFill>
          <a:ln w="9525">
            <a:solidFill>
              <a:srgbClr val="778D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0" y="4160520"/>
            <a:ext cx="12024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S7-PLCSIM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44084" y="4160520"/>
            <a:ext cx="1412748" cy="457200"/>
          </a:xfrm>
          <a:prstGeom prst="roundRect">
            <a:avLst>
              <a:gd name="adj" fmla="val 50000"/>
            </a:avLst>
          </a:prstGeom>
          <a:solidFill>
            <a:srgbClr val="415A77"/>
          </a:solidFill>
          <a:ln w="9525">
            <a:solidFill>
              <a:srgbClr val="778D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44084" y="4160520"/>
            <a:ext cx="14127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I/O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по производственной практике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icon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38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задачи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полный цикл управления виртуальной сборочной ячейкой — от приёма сырья до выхода готового изделия — и проверить логику без физического контроллера.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423160"/>
            <a:ext cx="420624" cy="420624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40" y="2517800"/>
            <a:ext cx="231343" cy="231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3774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алгоритм управления виртуальной сборочной ячейкой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457200" y="3172968"/>
            <a:ext cx="420624" cy="420624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40" y="3267608"/>
            <a:ext cx="231343" cy="231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12724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Организовать подачу основания и крышки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457200" y="3922776"/>
            <a:ext cx="420624" cy="420624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40" y="4017416"/>
            <a:ext cx="231343" cy="231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87705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Контролировать положение и зажим деталей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457200" y="4672584"/>
            <a:ext cx="420624" cy="420624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40" y="4767224"/>
            <a:ext cx="231343" cy="2313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462686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Управлять Gantry Robot по осям X и Z, а также захватом</a:t>
            </a:r>
            <a:endParaRPr lang="en-US" sz="1550" dirty="0"/>
          </a:p>
        </p:txBody>
      </p:sp>
      <p:sp>
        <p:nvSpPr>
          <p:cNvPr id="18" name="Shape 11"/>
          <p:cNvSpPr/>
          <p:nvPr/>
        </p:nvSpPr>
        <p:spPr>
          <a:xfrm>
            <a:off x="457200" y="5422392"/>
            <a:ext cx="420624" cy="420624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40" y="5517032"/>
            <a:ext cx="231343" cy="23134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43000" y="537667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алгоритм в Factory I/O без физического PLC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ROBOT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38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проекта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60220" y="1920240"/>
            <a:ext cx="777240" cy="77724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icons/microchi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099" y="2095119"/>
            <a:ext cx="427482" cy="4274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880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TIA Portal V20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31520" y="33375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LAD-программы и конфигурация контроллера S7-300.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160520" y="16002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463540" y="1920240"/>
            <a:ext cx="777240" cy="77724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icons/sync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419" y="2095119"/>
            <a:ext cx="427482" cy="4274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89120" y="2880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S7-PLCSIM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434840" y="33375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Виртуальное исполнение PLC-программы без физического оборудования.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863840" y="16002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F4F6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9166860" y="1920240"/>
            <a:ext cx="777240" cy="77724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icons/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1739" y="2095119"/>
            <a:ext cx="427482" cy="4274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92440" y="2880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I/O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8138160" y="33375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3D-модель сцены Assembly / Assembler Control для визуализации процесса.</a:t>
            </a:r>
            <a:endParaRPr lang="en-US" sz="1250" dirty="0"/>
          </a:p>
        </p:txBody>
      </p:sp>
      <p:pic>
        <p:nvPicPr>
          <p:cNvPr id="20" name="Image 4" descr="/home/claude/icons/arrow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8486" y="2857500"/>
            <a:ext cx="274320" cy="274320"/>
          </a:xfrm>
          <a:prstGeom prst="rect">
            <a:avLst/>
          </a:prstGeom>
        </p:spPr>
      </p:pic>
      <p:pic>
        <p:nvPicPr>
          <p:cNvPr id="21" name="Image 5" descr="/home/claude/icons/arrow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1806" y="285750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57200" y="4709160"/>
            <a:ext cx="10789920" cy="685800"/>
          </a:xfrm>
          <a:prstGeom prst="roundRect">
            <a:avLst>
              <a:gd name="adj" fmla="val 10667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731520" y="47091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Дискретные I/O связывают виртуальный контроллер с объектами сцены Factory I/O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ROBOT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38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I/O — сборочная ячейка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6492240" cy="4800600"/>
          </a:xfrm>
          <a:prstGeom prst="roundRect">
            <a:avLst>
              <a:gd name="adj" fmla="val 1524"/>
            </a:avLst>
          </a:prstGeom>
          <a:solidFill>
            <a:srgbClr val="F4F6F9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14400" y="196596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conveyor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265176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 conveyor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1435608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14356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emitter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0" y="19659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base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0" y="26517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lid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37560" y="2103120"/>
            <a:ext cx="182880" cy="182880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337560" y="2788920"/>
            <a:ext cx="182880" cy="182880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257800" y="1783080"/>
            <a:ext cx="1234440" cy="1645920"/>
          </a:xfrm>
          <a:prstGeom prst="roundRect">
            <a:avLst>
              <a:gd name="adj" fmla="val 4444"/>
            </a:avLst>
          </a:prstGeom>
          <a:solidFill>
            <a:srgbClr val="778D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257800" y="1783080"/>
            <a:ext cx="1234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/ Z)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286000" y="35661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286000" y="3566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point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14400" y="429768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14400" y="4297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conveyor — готовое изделие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1520" y="58338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 Control_Almaz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269480" y="16002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сцене используются конвейеры, эмиттеры, датчики, зажимы и Gantry-механизм.</a:t>
            </a:r>
            <a:endParaRPr lang="en-US" sz="1550" dirty="0"/>
          </a:p>
        </p:txBody>
      </p:sp>
      <p:sp>
        <p:nvSpPr>
          <p:cNvPr id="26" name="Shape 23"/>
          <p:cNvSpPr/>
          <p:nvPr/>
        </p:nvSpPr>
        <p:spPr>
          <a:xfrm>
            <a:off x="7269480" y="2880360"/>
            <a:ext cx="4434840" cy="0"/>
          </a:xfrm>
          <a:prstGeom prst="line">
            <a:avLst/>
          </a:prstGeom>
          <a:noFill/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269480" y="310896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Виртуальная модель позволяет наблюдать результат выполнения PLC-логики в реальном времени, до подключения физического оборудования.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ROBOT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icons/diagra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38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Последовательность работы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91540" y="3268980"/>
            <a:ext cx="10378440" cy="0"/>
          </a:xfrm>
          <a:prstGeom prst="line">
            <a:avLst/>
          </a:prstGeom>
          <a:noFill/>
          <a:ln w="25400">
            <a:solidFill>
              <a:srgbClr val="778D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6226" y="2834640"/>
            <a:ext cx="868680" cy="86868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icons/pla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96" y="3051810"/>
            <a:ext cx="434340" cy="4343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38874" y="2706624"/>
            <a:ext cx="329184" cy="329184"/>
          </a:xfrm>
          <a:prstGeom prst="ellipse">
            <a:avLst/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6186" y="3867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23306" y="42336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системы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432957" y="2834640"/>
            <a:ext cx="868680" cy="86868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icons/box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127" y="305181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45605" y="2706624"/>
            <a:ext cx="329184" cy="329184"/>
          </a:xfrm>
          <a:prstGeom prst="ellipse">
            <a:avLst/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112917" y="3867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930037" y="42336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основания и крышки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039689" y="2834640"/>
            <a:ext cx="868680" cy="86868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6859" y="305181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52337" y="2706624"/>
            <a:ext cx="329184" cy="329184"/>
          </a:xfrm>
          <a:prstGeom prst="ellipse">
            <a:avLst/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719649" y="3867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536769" y="42336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датчиками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46420" y="2834640"/>
            <a:ext cx="868680" cy="86868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icons/han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3590" y="3051810"/>
            <a:ext cx="434340" cy="4343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59068" y="2706624"/>
            <a:ext cx="329184" cy="329184"/>
          </a:xfrm>
          <a:prstGeom prst="ellipse">
            <a:avLst/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326380" y="3867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143500" y="42336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деталей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7253151" y="2834640"/>
            <a:ext cx="868680" cy="86868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/home/claude/icons/arrows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0321" y="3051810"/>
            <a:ext cx="434340" cy="4343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865799" y="2706624"/>
            <a:ext cx="329184" cy="329184"/>
          </a:xfrm>
          <a:prstGeom prst="ellipse">
            <a:avLst/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933111" y="3867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750231" y="42336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Перемещение по X / Z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859883" y="2834640"/>
            <a:ext cx="868680" cy="86868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/home/claude/icons/cog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7053" y="3051810"/>
            <a:ext cx="434340" cy="4343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472531" y="2706624"/>
            <a:ext cx="329184" cy="329184"/>
          </a:xfrm>
          <a:prstGeom prst="ellipse">
            <a:avLst/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8539843" y="3867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/ Assembly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8356963" y="42336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Захват и сборка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10466614" y="2834640"/>
            <a:ext cx="868680" cy="86868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7" descr="/home/claude/icons/flag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3784" y="3051810"/>
            <a:ext cx="434340" cy="43434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1079262" y="2706624"/>
            <a:ext cx="329184" cy="329184"/>
          </a:xfrm>
          <a:prstGeom prst="ellipse">
            <a:avLst/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10146574" y="3867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9963694" y="42336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изделия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457200" y="53949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выполняется циклически: после выхода изделия ячейка автоматически готова к приёму следующей пары деталей.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ROBOT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icons/microc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38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PLC-программа в TIA Portal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365760" cy="3657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591056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4630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логика реализована в организационном блоке OB1 на языке LAD (Ladder Logic).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250545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3774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программе используются внутренние маркеры (M), условия межблокировок между командами перемещения и захвата.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69417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35661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Временные задержки реализованы через функциональные блоки TON (Timer On-Delay).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457200" y="46177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777240" y="4690872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 – T3</a:t>
            </a:r>
            <a:endParaRPr lang="en-US" sz="3400" dirty="0"/>
          </a:p>
        </p:txBody>
      </p:sp>
      <p:sp>
        <p:nvSpPr>
          <p:cNvPr id="16" name="Text 10"/>
          <p:cNvSpPr/>
          <p:nvPr/>
        </p:nvSpPr>
        <p:spPr>
          <a:xfrm>
            <a:off x="2834640" y="469087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блоки данных (DB)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таймеров, используемых в цикле сборки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00800" y="141732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F4F6F9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667512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13 — фрагмент LAD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858000" y="2057400"/>
            <a:ext cx="0" cy="3474720"/>
          </a:xfrm>
          <a:prstGeom prst="line">
            <a:avLst/>
          </a:prstGeom>
          <a:noFill/>
          <a:ln w="31750">
            <a:solidFill>
              <a:srgbClr val="415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11247120" y="2057400"/>
            <a:ext cx="0" cy="3474720"/>
          </a:xfrm>
          <a:prstGeom prst="line">
            <a:avLst/>
          </a:prstGeom>
          <a:noFill/>
          <a:ln w="31750">
            <a:solidFill>
              <a:srgbClr val="415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858000" y="2819400"/>
            <a:ext cx="4389120" cy="0"/>
          </a:xfrm>
          <a:prstGeom prst="line">
            <a:avLst/>
          </a:prstGeom>
          <a:noFill/>
          <a:ln w="19050">
            <a:solidFill>
              <a:srgbClr val="778D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315200" y="2563368"/>
            <a:ext cx="457200" cy="5120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15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949440" y="2270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"Lid clamped"  I0.4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10424160" y="259994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915400" y="22707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"Move Z"  Q0.1  (S)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858000" y="3977640"/>
            <a:ext cx="4389120" cy="0"/>
          </a:xfrm>
          <a:prstGeom prst="line">
            <a:avLst/>
          </a:prstGeom>
          <a:noFill/>
          <a:ln w="19050">
            <a:solidFill>
              <a:srgbClr val="778D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315200" y="3721608"/>
            <a:ext cx="457200" cy="5120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15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6949440" y="3429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"Move Z"  Q0.1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10424160" y="375818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8915400" y="34290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"T0"  TON  3s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6858000" y="5135880"/>
            <a:ext cx="4389120" cy="0"/>
          </a:xfrm>
          <a:prstGeom prst="line">
            <a:avLst/>
          </a:prstGeom>
          <a:noFill/>
          <a:ln w="19050">
            <a:solidFill>
              <a:srgbClr val="778D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315200" y="4879848"/>
            <a:ext cx="457200" cy="5120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15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6949440" y="4587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2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"T0".Q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10424160" y="491642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8915400" y="4587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"Move X"  Q0.0  (S)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ROBOT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38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входы / выходы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15A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ВХОДЫ (Inputs)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3447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Адрес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I1.2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I1.3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I0.0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I0.1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at 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I0.6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 at 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I0.3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clamped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I0.7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 clamped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I0.4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0" y="1005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ВЫХОДЫ (Outputs)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3447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Адрес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Q0.0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Q0.1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Q0.2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Clamp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Q0.7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Clamp 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Q0.4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Bases conveyor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Q0.6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Lids conveyor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Q0.3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/ Lid emitter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15A7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Q1.4 / Q1.5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ROBOT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38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Таймеры и последовательность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задержка управления подачей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9272" y="16916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B263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19272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319272" y="24688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3502152" y="34747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Выдержка операции захвата / перемещения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81344" y="16916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81344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81344" y="24688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364224" y="34747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Временная выдержка следующей стадии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043416" y="16916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B263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043416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043416" y="246888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9226296" y="34747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состояния выхода детали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4846320"/>
            <a:ext cx="11192256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7240" y="4846320"/>
            <a:ext cx="10552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таймеры реализованы как IEC-блоки TON с собственными блоками данных DB1 – DB4.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ROBOT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icons/syn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38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в S7-PLCSIM + Factory I/O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636776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4813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исполняется виртуально на S7-300.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241401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25856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I/O отображает состояние технологического объекта.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19125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30358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датчиков влияет на PLC-логику.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968496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81304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Выходные сигналы PLC управляют виртуальными приводами.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457200" y="4663440"/>
            <a:ext cx="365760" cy="3657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4745736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05840" y="459028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Проверяется полный цикл — от подачи компонентов до выхода изделия.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7360920" y="2103120"/>
            <a:ext cx="3383280" cy="3383280"/>
          </a:xfrm>
          <a:prstGeom prst="ellipse">
            <a:avLst/>
          </a:prstGeom>
          <a:ln w="25400">
            <a:solidFill>
              <a:srgbClr val="778DA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8549640" y="1600200"/>
            <a:ext cx="1005840" cy="100584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6" descr="/home/claude/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1158" y="1861718"/>
            <a:ext cx="482803" cy="48280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001000" y="10972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Датчики Factory I/O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10241280" y="3291840"/>
            <a:ext cx="1005840" cy="100584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7" descr="/home/claude/icons/microchi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2798" y="3553358"/>
            <a:ext cx="482803" cy="48280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1384280" y="3520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PLC-логика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S7-PLCSIM</a:t>
            </a:r>
            <a:endParaRPr lang="en-US" sz="1050" dirty="0"/>
          </a:p>
        </p:txBody>
      </p:sp>
      <p:sp>
        <p:nvSpPr>
          <p:cNvPr id="27" name="Shape 17"/>
          <p:cNvSpPr/>
          <p:nvPr/>
        </p:nvSpPr>
        <p:spPr>
          <a:xfrm>
            <a:off x="8549640" y="4983480"/>
            <a:ext cx="1005840" cy="100584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8" descr="/home/claude/icons/cog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1158" y="5244998"/>
            <a:ext cx="482803" cy="48280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001000" y="6080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Приводы (Actuators)</a:t>
            </a:r>
            <a:endParaRPr lang="en-US" sz="1050" dirty="0"/>
          </a:p>
        </p:txBody>
      </p:sp>
      <p:sp>
        <p:nvSpPr>
          <p:cNvPr id="30" name="Shape 19"/>
          <p:cNvSpPr/>
          <p:nvPr/>
        </p:nvSpPr>
        <p:spPr>
          <a:xfrm>
            <a:off x="6858000" y="3291840"/>
            <a:ext cx="1005840" cy="100584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9" descr="/home/claude/icons/syn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518" y="3553358"/>
            <a:ext cx="482803" cy="482803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617720" y="3520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</a:t>
            </a:r>
            <a:endParaRPr lang="en-US" sz="1050" dirty="0"/>
          </a:p>
          <a:p>
            <a:pPr marL="0" indent="0" algn="r">
              <a:buNone/>
            </a:pPr>
            <a:r>
              <a:rPr lang="en-US" sz="10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I/O</a:t>
            </a:r>
            <a:endParaRPr lang="en-US" sz="1050" dirty="0"/>
          </a:p>
        </p:txBody>
      </p:sp>
      <p:sp>
        <p:nvSpPr>
          <p:cNvPr id="33" name="Text 21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ROBOT</a:t>
            </a:r>
            <a:endParaRPr lang="en-US" sz="900" dirty="0"/>
          </a:p>
        </p:txBody>
      </p:sp>
      <p:sp>
        <p:nvSpPr>
          <p:cNvPr id="34" name="Text 22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38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проекта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1983105"/>
            <a:ext cx="377190" cy="3771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8105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Рабочая виртуальная ячейка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77240" y="2606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Создана полностью функционирующая сборочная ячейка в Factory I/O.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55448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537960" y="1828800"/>
            <a:ext cx="685800" cy="68580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icons/box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265" y="1983105"/>
            <a:ext cx="377190" cy="3771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06640" y="18105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Подача и позиционирование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583680" y="2606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Реализована логика подачи и точного позиционирования компонентов.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9319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31520" y="4206240"/>
            <a:ext cx="685800" cy="68580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icons/ha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360545"/>
            <a:ext cx="377190" cy="3771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18795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Зажимы и Gantry Robot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77240" y="4983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Добавлены зажимы и управление перемещением по осям X / Z.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39319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537960" y="4206240"/>
            <a:ext cx="685800" cy="68580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icons/c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265" y="4360545"/>
            <a:ext cx="377190" cy="37719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06640" y="418795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Временные задержки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583680" y="49834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TON-таймеры и обработка выхода готового изделия.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ROBOT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415A7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icons/light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3891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415A77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73736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00200" y="1847088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 TIA Portal V20 + S7-PLCSIM + Factory I/O позволяет выполнять software-in-the-loop проверку алгоритма.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7200" y="31546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415A77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315468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1600200" y="3264408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S7-300 обеспечивает необходимый набор дискретных I/O для полноценной реализации проекта.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57200" y="457200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415A77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5800" y="4572000"/>
            <a:ext cx="822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1600200" y="4681728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Виртуальная модель ускоряет отладку последовательности операций и снижает риск ошибок при переходе к физическому оборудованию.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ROBOT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icons/githu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9" y="584759"/>
            <a:ext cx="311810" cy="3118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3891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и материалы проекта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11247120" cy="1005840"/>
          </a:xfrm>
          <a:prstGeom prst="roundRect">
            <a:avLst>
              <a:gd name="adj" fmla="val 818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icons/githu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19656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5087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github.com/ViyeiraAlmaz/Gantry-Robot</a:t>
            </a:r>
            <a:endParaRPr lang="en-US" sz="1700" dirty="0"/>
          </a:p>
        </p:txBody>
      </p:sp>
      <p:pic>
        <p:nvPicPr>
          <p:cNvPr id="11" name="Image 2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11" y="3606851"/>
            <a:ext cx="211226" cy="211226"/>
          </a:xfrm>
          <a:prstGeom prst="rect">
            <a:avLst/>
          </a:prstGeom>
        </p:spPr>
      </p:pic>
      <p:pic>
        <p:nvPicPr>
          <p:cNvPr id="14" name="Image 3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11" y="4265219"/>
            <a:ext cx="211226" cy="211226"/>
          </a:xfrm>
          <a:prstGeom prst="rect">
            <a:avLst/>
          </a:prstGeom>
        </p:spPr>
      </p:pic>
      <p:pic>
        <p:nvPicPr>
          <p:cNvPr id="17" name="Image 4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11" y="4923587"/>
            <a:ext cx="211226" cy="2112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ROBOT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PresentationFormat>Широкоэкранный</PresentationFormat>
  <Paragraphs>189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Almaz Viyeira</cp:lastModifiedBy>
  <cp:revision>2</cp:revision>
  <dcterms:created xsi:type="dcterms:W3CDTF">2026-08-24T22:37:58Z</dcterms:created>
  <dcterms:modified xsi:type="dcterms:W3CDTF">2026-08-24T22:41:02Z</dcterms:modified>
</cp:coreProperties>
</file>