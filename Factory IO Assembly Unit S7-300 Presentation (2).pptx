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1937" y="4186237"/>
            <a:ext cx="4048124" cy="466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5238" y="2164905"/>
            <a:ext cx="8261523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49834"/>
            <a:ext cx="456692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368A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409507"/>
            <a:ext cx="11125835" cy="2846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s://factoryio.com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dn.automationforum.co/uploads/2023/08/tia-portal-21-scaled.jpg" TargetMode="External"/><Relationship Id="rId5" Type="http://schemas.openxmlformats.org/officeDocument/2006/relationships/hyperlink" Target="http://www.boschrexroth.com/" TargetMode="External"/><Relationship Id="rId4" Type="http://schemas.openxmlformats.org/officeDocument/2006/relationships/hyperlink" Target="https://assets.rexroth.mam.bosch.tech/assets/api/acbcfafd-4781-4241-ad24-6decaab9b398/dc_ecommerce_big_j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3425" y="2407890"/>
            <a:ext cx="3105149" cy="3047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929446" y="2869153"/>
            <a:ext cx="8333105" cy="1429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200" spc="-90" dirty="0">
                <a:solidFill>
                  <a:srgbClr val="0F172A"/>
                </a:solidFill>
              </a:rPr>
              <a:t>Assembly</a:t>
            </a:r>
            <a:r>
              <a:rPr sz="4200" spc="-465" dirty="0">
                <a:solidFill>
                  <a:srgbClr val="0F172A"/>
                </a:solidFill>
              </a:rPr>
              <a:t> </a:t>
            </a:r>
            <a:r>
              <a:rPr sz="4200" spc="-225" dirty="0">
                <a:solidFill>
                  <a:srgbClr val="0F172A"/>
                </a:solidFill>
              </a:rPr>
              <a:t>Unit</a:t>
            </a:r>
            <a:r>
              <a:rPr sz="4200" spc="-459" dirty="0">
                <a:solidFill>
                  <a:srgbClr val="0F172A"/>
                </a:solidFill>
              </a:rPr>
              <a:t> </a:t>
            </a:r>
            <a:r>
              <a:rPr sz="4200" spc="-105" dirty="0">
                <a:solidFill>
                  <a:srgbClr val="0F172A"/>
                </a:solidFill>
              </a:rPr>
              <a:t>Control</a:t>
            </a:r>
            <a:r>
              <a:rPr sz="4200" spc="-465" dirty="0">
                <a:solidFill>
                  <a:srgbClr val="0F172A"/>
                </a:solidFill>
              </a:rPr>
              <a:t> </a:t>
            </a:r>
            <a:r>
              <a:rPr sz="4200" spc="-75" dirty="0">
                <a:solidFill>
                  <a:srgbClr val="0F172A"/>
                </a:solidFill>
              </a:rPr>
              <a:t>System</a:t>
            </a:r>
            <a:endParaRPr sz="4200" dirty="0"/>
          </a:p>
          <a:p>
            <a:pPr marL="147955" marR="144780" algn="ctr">
              <a:lnSpc>
                <a:spcPct val="150000"/>
              </a:lnSpc>
              <a:spcBef>
                <a:spcPts val="400"/>
              </a:spcBef>
            </a:pP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PLC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60" dirty="0">
                <a:solidFill>
                  <a:srgbClr val="475568"/>
                </a:solidFill>
                <a:latin typeface="Roboto"/>
                <a:cs typeface="Roboto"/>
              </a:rPr>
              <a:t>S7-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300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Implementation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&amp;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3D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Digital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Twin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Simulation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in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TIA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Portal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V</a:t>
            </a:r>
            <a:r>
              <a:rPr lang="ru-RU" sz="1650" dirty="0">
                <a:solidFill>
                  <a:srgbClr val="475568"/>
                </a:solidFill>
                <a:latin typeface="Roboto"/>
                <a:cs typeface="Roboto"/>
              </a:rPr>
              <a:t>20</a:t>
            </a:r>
            <a:r>
              <a:rPr sz="1650" spc="-4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and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Factory </a:t>
            </a:r>
            <a:r>
              <a:rPr sz="1650" spc="-25" dirty="0">
                <a:solidFill>
                  <a:srgbClr val="475568"/>
                </a:solidFill>
                <a:latin typeface="Roboto"/>
                <a:cs typeface="Roboto"/>
              </a:rPr>
              <a:t>I/O</a:t>
            </a:r>
            <a:endParaRPr sz="16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4500" y="2652711"/>
            <a:ext cx="1143000" cy="38100"/>
          </a:xfrm>
          <a:custGeom>
            <a:avLst/>
            <a:gdLst/>
            <a:ahLst/>
            <a:cxnLst/>
            <a:rect l="l" t="t" r="r" b="b"/>
            <a:pathLst>
              <a:path w="1143000" h="38100">
                <a:moveTo>
                  <a:pt x="1142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42999" y="0"/>
                </a:lnTo>
                <a:lnTo>
                  <a:pt x="1142999" y="38099"/>
                </a:lnTo>
                <a:close/>
              </a:path>
            </a:pathLst>
          </a:custGeom>
          <a:solidFill>
            <a:srgbClr val="0284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73081" y="2886138"/>
            <a:ext cx="7639684" cy="143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sz="4050" spc="-145" dirty="0"/>
              <a:t>System</a:t>
            </a:r>
            <a:r>
              <a:rPr sz="4050" spc="-465" dirty="0"/>
              <a:t> </a:t>
            </a:r>
            <a:r>
              <a:rPr sz="4050" spc="-135" dirty="0"/>
              <a:t>Overview</a:t>
            </a:r>
            <a:r>
              <a:rPr sz="4050" spc="-459" dirty="0"/>
              <a:t> </a:t>
            </a:r>
            <a:r>
              <a:rPr sz="4050" spc="-400" dirty="0"/>
              <a:t>&amp;</a:t>
            </a:r>
            <a:r>
              <a:rPr sz="4050" spc="-465" dirty="0"/>
              <a:t> </a:t>
            </a:r>
            <a:r>
              <a:rPr sz="4050" spc="-10" dirty="0"/>
              <a:t>Goals</a:t>
            </a:r>
            <a:endParaRPr sz="4050"/>
          </a:p>
          <a:p>
            <a:pPr marL="12065" marR="5080" algn="ctr">
              <a:lnSpc>
                <a:spcPct val="150000"/>
              </a:lnSpc>
              <a:spcBef>
                <a:spcPts val="320"/>
              </a:spcBef>
            </a:pP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Designing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validating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an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80" dirty="0">
                <a:solidFill>
                  <a:srgbClr val="475568"/>
                </a:solidFill>
                <a:latin typeface="Roboto"/>
                <a:cs typeface="Roboto"/>
              </a:rPr>
              <a:t>end-</a:t>
            </a:r>
            <a:r>
              <a:rPr sz="1650" spc="-70" dirty="0">
                <a:solidFill>
                  <a:srgbClr val="475568"/>
                </a:solidFill>
                <a:latin typeface="Roboto"/>
                <a:cs typeface="Roboto"/>
              </a:rPr>
              <a:t>to-</a:t>
            </a:r>
            <a:r>
              <a:rPr sz="1650" spc="-60" dirty="0">
                <a:solidFill>
                  <a:srgbClr val="475568"/>
                </a:solidFill>
                <a:latin typeface="Roboto"/>
                <a:cs typeface="Roboto"/>
              </a:rPr>
              <a:t>end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automated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assembly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line</a:t>
            </a:r>
            <a:r>
              <a:rPr sz="1650" spc="-4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using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digital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twin technology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dirty="0">
                <a:solidFill>
                  <a:srgbClr val="475568"/>
                </a:solidFill>
                <a:latin typeface="Roboto"/>
                <a:cs typeface="Roboto"/>
              </a:rPr>
              <a:t>before</a:t>
            </a:r>
            <a:r>
              <a:rPr sz="1650" spc="-35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20" dirty="0">
                <a:solidFill>
                  <a:srgbClr val="475568"/>
                </a:solidFill>
                <a:latin typeface="Roboto"/>
                <a:cs typeface="Roboto"/>
              </a:rPr>
              <a:t>hardware</a:t>
            </a:r>
            <a:r>
              <a:rPr sz="1650" spc="-30" dirty="0">
                <a:solidFill>
                  <a:srgbClr val="475568"/>
                </a:solidFill>
                <a:latin typeface="Roboto"/>
                <a:cs typeface="Roboto"/>
              </a:rPr>
              <a:t> </a:t>
            </a:r>
            <a:r>
              <a:rPr sz="1650" spc="-10" dirty="0">
                <a:solidFill>
                  <a:srgbClr val="475568"/>
                </a:solidFill>
                <a:latin typeface="Roboto"/>
                <a:cs typeface="Roboto"/>
              </a:rPr>
              <a:t>deployment.</a:t>
            </a:r>
            <a:endParaRPr sz="16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862262"/>
            <a:ext cx="5333999" cy="19430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2862262"/>
            <a:ext cx="5333999" cy="1943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1225" y="3145218"/>
            <a:ext cx="4507865" cy="160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284C7"/>
                </a:solidFill>
                <a:latin typeface="Arial Black"/>
                <a:cs typeface="Arial Black"/>
              </a:rPr>
              <a:t>Siemens</a:t>
            </a:r>
            <a:r>
              <a:rPr sz="1800" spc="-14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200" dirty="0">
                <a:solidFill>
                  <a:srgbClr val="0284C7"/>
                </a:solidFill>
                <a:latin typeface="Arial Black"/>
                <a:cs typeface="Arial Black"/>
              </a:rPr>
              <a:t>TIA</a:t>
            </a:r>
            <a:r>
              <a:rPr sz="1800" spc="-14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95" dirty="0">
                <a:solidFill>
                  <a:srgbClr val="0284C7"/>
                </a:solidFill>
                <a:latin typeface="Arial Black"/>
                <a:cs typeface="Arial Black"/>
              </a:rPr>
              <a:t>Portal</a:t>
            </a:r>
            <a:r>
              <a:rPr sz="1800" spc="-14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330" dirty="0">
                <a:solidFill>
                  <a:srgbClr val="0284C7"/>
                </a:solidFill>
                <a:latin typeface="Arial Black"/>
                <a:cs typeface="Arial Black"/>
              </a:rPr>
              <a:t>V</a:t>
            </a:r>
            <a:r>
              <a:rPr lang="ru-RU" sz="1800" spc="-330" dirty="0">
                <a:solidFill>
                  <a:srgbClr val="0284C7"/>
                </a:solidFill>
                <a:latin typeface="Arial Black"/>
                <a:cs typeface="Arial Black"/>
              </a:rPr>
              <a:t>20</a:t>
            </a:r>
            <a:endParaRPr sz="1800" dirty="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Serves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engineering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software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framework.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Houses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the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CPU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300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logic,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hardware conﬁguration,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PLCSIM engine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real-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time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PLC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execution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without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physical hardware.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6225" y="3145218"/>
            <a:ext cx="4345940" cy="160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0284C7"/>
                </a:solidFill>
                <a:latin typeface="Arial Black"/>
                <a:cs typeface="Arial Black"/>
              </a:rPr>
              <a:t>Factory</a:t>
            </a:r>
            <a:r>
              <a:rPr sz="1800" spc="-10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0284C7"/>
                </a:solidFill>
                <a:latin typeface="Arial Black"/>
                <a:cs typeface="Arial Black"/>
              </a:rPr>
              <a:t>I/O</a:t>
            </a:r>
            <a:r>
              <a:rPr sz="1800" spc="-10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284C7"/>
                </a:solidFill>
                <a:latin typeface="Arial Black"/>
                <a:cs typeface="Arial Black"/>
              </a:rPr>
              <a:t>Environment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Provides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realistic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3D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industrial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simulation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scene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the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Assembly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Unit.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Features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realistic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physics,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sensors, pneumatic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actuators,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discrete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communication drivers.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Key</a:t>
            </a:r>
            <a:r>
              <a:rPr spc="-300" dirty="0"/>
              <a:t> </a:t>
            </a:r>
            <a:r>
              <a:rPr spc="-125" dirty="0"/>
              <a:t>Software</a:t>
            </a:r>
            <a:r>
              <a:rPr spc="-300" dirty="0"/>
              <a:t> </a:t>
            </a:r>
            <a:r>
              <a:rPr spc="-265" dirty="0"/>
              <a:t>&amp;</a:t>
            </a:r>
            <a:r>
              <a:rPr spc="-300" dirty="0"/>
              <a:t> </a:t>
            </a:r>
            <a:r>
              <a:rPr spc="-70" dirty="0"/>
              <a:t>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2024062"/>
            <a:ext cx="5333999" cy="3619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2150" y="1901633"/>
            <a:ext cx="5186680" cy="252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300">
              <a:lnSpc>
                <a:spcPct val="150000"/>
              </a:lnSpc>
              <a:spcBef>
                <a:spcPts val="10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Conveyors:</a:t>
            </a:r>
            <a:r>
              <a:rPr sz="1350" b="1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Transport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components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lid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elements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into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station.</a:t>
            </a:r>
            <a:endParaRPr sz="1350">
              <a:latin typeface="Roboto"/>
              <a:cs typeface="Roboto"/>
            </a:endParaRPr>
          </a:p>
          <a:p>
            <a:pPr marL="127000" marR="458470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Pneumatic</a:t>
            </a:r>
            <a:r>
              <a:rPr sz="1350" b="1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Clamps:</a:t>
            </a:r>
            <a:r>
              <a:rPr sz="1350" b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Securely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hold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during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press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ﬁt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operations.</a:t>
            </a:r>
            <a:endParaRPr sz="1350">
              <a:latin typeface="Roboto"/>
              <a:cs typeface="Roboto"/>
            </a:endParaRPr>
          </a:p>
          <a:p>
            <a:pPr marL="127000" marR="16510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spc="-10" dirty="0">
                <a:solidFill>
                  <a:srgbClr val="334155"/>
                </a:solidFill>
                <a:latin typeface="Roboto"/>
                <a:cs typeface="Roboto"/>
              </a:rPr>
              <a:t>Two-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Axis</a:t>
            </a:r>
            <a:r>
              <a:rPr sz="1350" b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Robot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/</a:t>
            </a:r>
            <a:r>
              <a:rPr sz="1350" b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Pusher:</a:t>
            </a:r>
            <a:r>
              <a:rPr sz="1350" b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Picks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transfers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assembled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units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onto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the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exit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conveyor.</a:t>
            </a:r>
            <a:endParaRPr sz="1350">
              <a:latin typeface="Roboto"/>
              <a:cs typeface="Roboto"/>
            </a:endParaRPr>
          </a:p>
          <a:p>
            <a:pPr marL="127000" marR="384175" indent="-114300">
              <a:lnSpc>
                <a:spcPct val="150000"/>
              </a:lnSpc>
              <a:spcBef>
                <a:spcPts val="90"/>
              </a:spcBef>
              <a:buFont typeface="Roboto"/>
              <a:buChar char="•"/>
              <a:tabLst>
                <a:tab pos="127000" algn="l"/>
              </a:tabLst>
            </a:pP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Optical</a:t>
            </a:r>
            <a:r>
              <a:rPr sz="1350" b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Sensors:</a:t>
            </a:r>
            <a:r>
              <a:rPr sz="1350" b="1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Detect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arrival,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orientation,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clamping completion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status.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8800" y="449834"/>
            <a:ext cx="4554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Factory</a:t>
            </a:r>
            <a:r>
              <a:rPr spc="-270" dirty="0"/>
              <a:t> </a:t>
            </a:r>
            <a:r>
              <a:rPr dirty="0"/>
              <a:t>I/O</a:t>
            </a:r>
            <a:r>
              <a:rPr spc="-265" dirty="0"/>
              <a:t> </a:t>
            </a:r>
            <a:r>
              <a:rPr spc="-60" dirty="0"/>
              <a:t>Assembly</a:t>
            </a:r>
            <a:r>
              <a:rPr spc="-265" dirty="0"/>
              <a:t> </a:t>
            </a:r>
            <a:r>
              <a:rPr spc="-65" dirty="0"/>
              <a:t>Cell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495550"/>
            <a:ext cx="3530648" cy="2676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0748" y="2495550"/>
            <a:ext cx="3530648" cy="26765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9999" y="2495550"/>
            <a:ext cx="3530647" cy="2676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47725" y="2800350"/>
            <a:ext cx="571500" cy="571500"/>
            <a:chOff x="847725" y="2800350"/>
            <a:chExt cx="571500" cy="5715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725" y="2800350"/>
              <a:ext cx="571499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075" y="2952750"/>
              <a:ext cx="304799" cy="2666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5025" y="3540505"/>
            <a:ext cx="2955290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45" dirty="0">
                <a:solidFill>
                  <a:srgbClr val="0F172A"/>
                </a:solidFill>
                <a:latin typeface="Arial Black"/>
                <a:cs typeface="Arial Black"/>
              </a:rPr>
              <a:t>1.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25" dirty="0">
                <a:solidFill>
                  <a:srgbClr val="0F172A"/>
                </a:solidFill>
                <a:latin typeface="Arial Black"/>
                <a:cs typeface="Arial Black"/>
              </a:rPr>
              <a:t>3D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Scene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simulates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actuators, photoelectric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sensors,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mechanical physical</a:t>
            </a:r>
            <a:r>
              <a:rPr sz="1350" spc="-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behaviors.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06973" y="2800350"/>
            <a:ext cx="571500" cy="571500"/>
            <a:chOff x="4606973" y="2800350"/>
            <a:chExt cx="571500" cy="5715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06973" y="2800350"/>
              <a:ext cx="571499" cy="5714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26037" y="2952750"/>
              <a:ext cx="333374" cy="2666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94274" y="3540505"/>
            <a:ext cx="2844165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0" dirty="0">
                <a:solidFill>
                  <a:srgbClr val="0F172A"/>
                </a:solidFill>
                <a:latin typeface="Arial Black"/>
                <a:cs typeface="Arial Black"/>
              </a:rPr>
              <a:t>2.</a:t>
            </a:r>
            <a:r>
              <a:rPr sz="1800" spc="-17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90" dirty="0">
                <a:solidFill>
                  <a:srgbClr val="0F172A"/>
                </a:solidFill>
                <a:latin typeface="Arial Black"/>
                <a:cs typeface="Arial Black"/>
              </a:rPr>
              <a:t>PLCSIM</a:t>
            </a:r>
            <a:r>
              <a:rPr sz="1800" spc="-17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Driver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Bidirectional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memory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tag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mapping connects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PLCSIM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virtual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registers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3D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nodes.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366224" y="2800350"/>
            <a:ext cx="571500" cy="571500"/>
            <a:chOff x="8366224" y="2800350"/>
            <a:chExt cx="571500" cy="57150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66224" y="2800350"/>
              <a:ext cx="571499" cy="5714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8624" y="2952750"/>
              <a:ext cx="266699" cy="2666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353524" y="3540505"/>
            <a:ext cx="2930525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3.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215" dirty="0">
                <a:solidFill>
                  <a:srgbClr val="0F172A"/>
                </a:solidFill>
                <a:latin typeface="Arial Black"/>
                <a:cs typeface="Arial Black"/>
              </a:rPr>
              <a:t>PLC</a:t>
            </a:r>
            <a:r>
              <a:rPr sz="1800" spc="-16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Program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570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TIA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Portal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300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executes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OB1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cyclic control,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safety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interlocks,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state machine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FCs.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Core</a:t>
            </a:r>
            <a:r>
              <a:rPr spc="-290" dirty="0"/>
              <a:t> </a:t>
            </a:r>
            <a:r>
              <a:rPr spc="-100" dirty="0"/>
              <a:t>System</a:t>
            </a:r>
            <a:r>
              <a:rPr spc="-285" dirty="0"/>
              <a:t> </a:t>
            </a:r>
            <a:r>
              <a:rPr spc="-80" dirty="0"/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645" y="2387970"/>
            <a:ext cx="11138709" cy="293768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500" y="2409507"/>
          <a:ext cx="11049634" cy="284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1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Address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6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Signal</a:t>
                      </a:r>
                      <a:r>
                        <a:rPr sz="1350" spc="-95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2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2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Type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350" spc="-7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Function</a:t>
                      </a:r>
                      <a:r>
                        <a:rPr sz="1350" spc="-9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350" spc="-10" dirty="0">
                          <a:solidFill>
                            <a:srgbClr val="F7FAFC"/>
                          </a:solidFill>
                          <a:latin typeface="Arial Black"/>
                          <a:cs typeface="Arial Black"/>
                        </a:rPr>
                        <a:t>Description</a:t>
                      </a:r>
                      <a:endParaRPr sz="1350">
                        <a:latin typeface="Arial Black"/>
                        <a:cs typeface="Arial Black"/>
                      </a:endParaRPr>
                    </a:p>
                  </a:txBody>
                  <a:tcPr marL="0" marR="0" marT="175260" marB="0">
                    <a:lnT w="31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350" spc="-3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Start_PB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(Input)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Main</a:t>
                      </a:r>
                      <a:r>
                        <a:rPr sz="1350" spc="-6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control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panel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system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start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button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2245" marB="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350" spc="-3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At_Place_Sensor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(Input)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Optical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sensor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detecting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part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positioned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clamp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8034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Q</a:t>
                      </a:r>
                      <a:r>
                        <a:rPr sz="1350" spc="-1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0.0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Conveyor_Entry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(Output)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Drives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motor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incoming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raw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component</a:t>
                      </a:r>
                      <a:r>
                        <a:rPr sz="1350" spc="-4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feed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4625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Q</a:t>
                      </a:r>
                      <a:r>
                        <a:rPr sz="1350" spc="-1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2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0.1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Pneumatic_Clamp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BOOL</a:t>
                      </a:r>
                      <a:r>
                        <a:rPr sz="1350" spc="-5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(Output)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Extends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cylinder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hold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component</a:t>
                      </a:r>
                      <a:r>
                        <a:rPr sz="1350" spc="-5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during</a:t>
                      </a:r>
                      <a:r>
                        <a:rPr sz="1350" spc="-45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34155"/>
                          </a:solidFill>
                          <a:latin typeface="Roboto"/>
                          <a:cs typeface="Roboto"/>
                        </a:rPr>
                        <a:t>assembly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7653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I/O</a:t>
            </a:r>
            <a:r>
              <a:rPr spc="-265" dirty="0"/>
              <a:t> </a:t>
            </a:r>
            <a:r>
              <a:rPr spc="-85" dirty="0"/>
              <a:t>Signal</a:t>
            </a:r>
            <a:r>
              <a:rPr spc="-265" dirty="0"/>
              <a:t> </a:t>
            </a:r>
            <a:r>
              <a:rPr spc="-10" dirty="0"/>
              <a:t>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119562"/>
            <a:ext cx="2541239" cy="13477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7419" y="2200275"/>
            <a:ext cx="2541239" cy="13477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3339" y="4119562"/>
            <a:ext cx="2541239" cy="13477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9259" y="2414587"/>
            <a:ext cx="2541239" cy="113347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71500" y="3709987"/>
            <a:ext cx="11049000" cy="247650"/>
            <a:chOff x="571500" y="3709987"/>
            <a:chExt cx="11049000" cy="247650"/>
          </a:xfrm>
        </p:grpSpPr>
        <p:sp>
          <p:nvSpPr>
            <p:cNvPr id="7" name="object 7"/>
            <p:cNvSpPr/>
            <p:nvPr/>
          </p:nvSpPr>
          <p:spPr>
            <a:xfrm>
              <a:off x="571500" y="3814762"/>
              <a:ext cx="11049000" cy="38100"/>
            </a:xfrm>
            <a:custGeom>
              <a:avLst/>
              <a:gdLst/>
              <a:ahLst/>
              <a:cxnLst/>
              <a:rect l="l" t="t" r="r" b="b"/>
              <a:pathLst>
                <a:path w="11049000" h="38100">
                  <a:moveTo>
                    <a:pt x="110489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38099"/>
                  </a:lnTo>
                  <a:close/>
                </a:path>
              </a:pathLst>
            </a:custGeom>
            <a:solidFill>
              <a:srgbClr val="028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8295" y="3709987"/>
              <a:ext cx="247649" cy="247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4215" y="3709987"/>
              <a:ext cx="247649" cy="2476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90134" y="3709987"/>
              <a:ext cx="247649" cy="2476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26054" y="3709987"/>
              <a:ext cx="247649" cy="2476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20684" y="4280217"/>
            <a:ext cx="184150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85" dirty="0">
                <a:solidFill>
                  <a:srgbClr val="0284C7"/>
                </a:solidFill>
                <a:latin typeface="Arial Black"/>
                <a:cs typeface="Arial Black"/>
              </a:rPr>
              <a:t>1: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0" dirty="0">
                <a:solidFill>
                  <a:srgbClr val="0284C7"/>
                </a:solidFill>
                <a:latin typeface="Arial Black"/>
                <a:cs typeface="Arial Black"/>
              </a:rPr>
              <a:t>Feed</a:t>
            </a:r>
            <a:endParaRPr sz="1500">
              <a:latin typeface="Arial Black"/>
              <a:cs typeface="Arial Black"/>
            </a:endParaRPr>
          </a:p>
          <a:p>
            <a:pPr marL="12065" marR="5080" indent="-635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Raw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moves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down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entry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conveyor</a:t>
            </a:r>
            <a:r>
              <a:rPr sz="110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until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optical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sensor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detects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position.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83352" y="2360929"/>
            <a:ext cx="1988185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0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2:</a:t>
            </a:r>
            <a:r>
              <a:rPr sz="1500" spc="-12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0284C7"/>
                </a:solidFill>
                <a:latin typeface="Arial Black"/>
                <a:cs typeface="Arial Black"/>
              </a:rPr>
              <a:t>Clamp</a:t>
            </a:r>
            <a:endParaRPr sz="1500">
              <a:latin typeface="Arial Black"/>
              <a:cs typeface="Arial Black"/>
            </a:endParaRPr>
          </a:p>
          <a:p>
            <a:pPr marL="12700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Conveyor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stops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pneumatic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cylinder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clamps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part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tightly</a:t>
            </a:r>
            <a:r>
              <a:rPr sz="1100" spc="-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in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place.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2322" y="4280217"/>
            <a:ext cx="208216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5" dirty="0">
                <a:solidFill>
                  <a:srgbClr val="0284C7"/>
                </a:solidFill>
                <a:latin typeface="Arial Black"/>
                <a:cs typeface="Arial Black"/>
              </a:rPr>
              <a:t>3: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10" dirty="0">
                <a:solidFill>
                  <a:srgbClr val="0284C7"/>
                </a:solidFill>
                <a:latin typeface="Arial Black"/>
                <a:cs typeface="Arial Black"/>
              </a:rPr>
              <a:t>Press</a:t>
            </a:r>
            <a:endParaRPr sz="1500">
              <a:latin typeface="Arial Black"/>
              <a:cs typeface="Arial Black"/>
            </a:endParaRPr>
          </a:p>
          <a:p>
            <a:pPr marL="12065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Vertical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assembly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arm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lowers</a:t>
            </a:r>
            <a:r>
              <a:rPr sz="1100" spc="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5" dirty="0">
                <a:solidFill>
                  <a:srgbClr val="334155"/>
                </a:solidFill>
                <a:latin typeface="Roboto"/>
                <a:cs typeface="Roboto"/>
              </a:rPr>
              <a:t>lid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onto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base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complete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pressing sequence.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3604" y="2575242"/>
            <a:ext cx="215138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500" spc="-90" dirty="0">
                <a:solidFill>
                  <a:srgbClr val="0284C7"/>
                </a:solidFill>
                <a:latin typeface="Arial Black"/>
                <a:cs typeface="Arial Black"/>
              </a:rPr>
              <a:t>Step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60" dirty="0">
                <a:solidFill>
                  <a:srgbClr val="0284C7"/>
                </a:solidFill>
                <a:latin typeface="Arial Black"/>
                <a:cs typeface="Arial Black"/>
              </a:rPr>
              <a:t>4:</a:t>
            </a:r>
            <a:r>
              <a:rPr sz="1500" spc="-135" dirty="0">
                <a:solidFill>
                  <a:srgbClr val="0284C7"/>
                </a:solidFill>
                <a:latin typeface="Arial Black"/>
                <a:cs typeface="Arial Black"/>
              </a:rPr>
              <a:t> </a:t>
            </a:r>
            <a:r>
              <a:rPr sz="1500" spc="-20" dirty="0">
                <a:solidFill>
                  <a:srgbClr val="0284C7"/>
                </a:solidFill>
                <a:latin typeface="Arial Black"/>
                <a:cs typeface="Arial Black"/>
              </a:rPr>
              <a:t>Exit</a:t>
            </a:r>
            <a:endParaRPr sz="1500">
              <a:latin typeface="Arial Black"/>
              <a:cs typeface="Arial Black"/>
            </a:endParaRPr>
          </a:p>
          <a:p>
            <a:pPr marL="12700" marR="5080" algn="ctr">
              <a:lnSpc>
                <a:spcPct val="153400"/>
              </a:lnSpc>
              <a:spcBef>
                <a:spcPts val="235"/>
              </a:spcBef>
            </a:pP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Clamp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releases</a:t>
            </a:r>
            <a:r>
              <a:rPr sz="1100" spc="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100" spc="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exit</a:t>
            </a:r>
            <a:r>
              <a:rPr sz="1100" spc="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334155"/>
                </a:solidFill>
                <a:latin typeface="Roboto"/>
                <a:cs typeface="Roboto"/>
              </a:rPr>
              <a:t>conveyor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transports</a:t>
            </a:r>
            <a:r>
              <a:rPr sz="110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ﬁnished</a:t>
            </a:r>
            <a:r>
              <a:rPr sz="110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dirty="0">
                <a:solidFill>
                  <a:srgbClr val="334155"/>
                </a:solidFill>
                <a:latin typeface="Roboto"/>
                <a:cs typeface="Roboto"/>
              </a:rPr>
              <a:t>product</a:t>
            </a:r>
            <a:r>
              <a:rPr sz="110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100" spc="-20" dirty="0">
                <a:solidFill>
                  <a:srgbClr val="334155"/>
                </a:solidFill>
                <a:latin typeface="Roboto"/>
                <a:cs typeface="Roboto"/>
              </a:rPr>
              <a:t>out.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Sequence</a:t>
            </a:r>
            <a:r>
              <a:rPr spc="-300" dirty="0"/>
              <a:t> </a:t>
            </a:r>
            <a:r>
              <a:rPr spc="-95" dirty="0"/>
              <a:t>of</a:t>
            </a:r>
            <a:r>
              <a:rPr spc="-295" dirty="0"/>
              <a:t> </a:t>
            </a:r>
            <a:r>
              <a:rPr spc="-60" dirty="0"/>
              <a:t>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PLC</a:t>
            </a:r>
            <a:r>
              <a:rPr spc="-320" dirty="0"/>
              <a:t> </a:t>
            </a:r>
            <a:r>
              <a:rPr spc="-185" dirty="0"/>
              <a:t>Logic</a:t>
            </a:r>
            <a:r>
              <a:rPr spc="-315" dirty="0"/>
              <a:t> </a:t>
            </a:r>
            <a:r>
              <a:rPr spc="-60" dirty="0"/>
              <a:t>in</a:t>
            </a:r>
            <a:r>
              <a:rPr spc="-315" dirty="0"/>
              <a:t> </a:t>
            </a:r>
            <a:r>
              <a:rPr spc="-254" dirty="0"/>
              <a:t>TIA</a:t>
            </a:r>
            <a:r>
              <a:rPr spc="-320" dirty="0"/>
              <a:t> </a:t>
            </a:r>
            <a:r>
              <a:rPr spc="-60" dirty="0"/>
              <a:t>Portal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8800" y="1264030"/>
            <a:ext cx="5297805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0F172A"/>
                </a:solidFill>
                <a:latin typeface="Arial Black"/>
                <a:cs typeface="Arial Black"/>
              </a:rPr>
              <a:t>Structured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0F172A"/>
                </a:solidFill>
                <a:latin typeface="Arial Black"/>
                <a:cs typeface="Arial Black"/>
              </a:rPr>
              <a:t>Ladder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Logic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(LAD)</a:t>
            </a:r>
            <a:endParaRPr sz="1800">
              <a:latin typeface="Arial Black"/>
              <a:cs typeface="Arial Black"/>
            </a:endParaRPr>
          </a:p>
          <a:p>
            <a:pPr marL="12700" marR="342265">
              <a:lnSpc>
                <a:spcPct val="160000"/>
              </a:lnSpc>
              <a:spcBef>
                <a:spcPts val="409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Main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control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execution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runs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inside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34155"/>
                </a:solidFill>
                <a:latin typeface="Roboto"/>
                <a:cs typeface="Roboto"/>
              </a:rPr>
              <a:t>OB1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,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calling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modular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Function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Blocks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(FC)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auto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manual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modes.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60000"/>
              </a:lnSpc>
              <a:spcBef>
                <a:spcPts val="335"/>
              </a:spcBef>
            </a:pP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Safety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interlocks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ensure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cylinders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cannot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extend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unless</a:t>
            </a:r>
            <a:r>
              <a:rPr sz="1350" spc="-5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parts</a:t>
            </a:r>
            <a:r>
              <a:rPr sz="1350" spc="-6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are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conﬁrmed</a:t>
            </a:r>
            <a:r>
              <a:rPr sz="1350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in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position,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preventing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mechanical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collisions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in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I/O.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Рисунок 5" descr="Assembler - FACTORY I/O">
            <a:extLst>
              <a:ext uri="{FF2B5EF4-FFF2-40B4-BE49-F238E27FC236}">
                <a16:creationId xmlns:a16="http://schemas.microsoft.com/office/drawing/2014/main" id="{D39A66F4-B7B5-9AD9-546D-2CFEF904F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7029" y="3019106"/>
            <a:ext cx="318325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750" spc="-1120" dirty="0">
                <a:solidFill>
                  <a:srgbClr val="0284C7"/>
                </a:solidFill>
                <a:latin typeface="Arial Black"/>
                <a:cs typeface="Arial Black"/>
              </a:rPr>
              <a:t>100%</a:t>
            </a:r>
            <a:endParaRPr sz="975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6905" y="4297743"/>
            <a:ext cx="180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F172A"/>
                </a:solidFill>
                <a:latin typeface="Roboto"/>
                <a:cs typeface="Roboto"/>
              </a:rPr>
              <a:t>Virtual</a:t>
            </a:r>
            <a:r>
              <a:rPr sz="1800" b="1" spc="20" dirty="0">
                <a:solidFill>
                  <a:srgbClr val="0F172A"/>
                </a:solidFill>
                <a:latin typeface="Roboto"/>
                <a:cs typeface="Roboto"/>
              </a:rPr>
              <a:t> </a:t>
            </a:r>
            <a:r>
              <a:rPr sz="1800" b="1" spc="-10" dirty="0">
                <a:solidFill>
                  <a:srgbClr val="0F172A"/>
                </a:solidFill>
                <a:latin typeface="Roboto"/>
                <a:cs typeface="Roboto"/>
              </a:rPr>
              <a:t>Validation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0" y="3059493"/>
            <a:ext cx="5226050" cy="129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spc="-130" dirty="0">
                <a:solidFill>
                  <a:srgbClr val="0F172A"/>
                </a:solidFill>
                <a:latin typeface="Arial Black"/>
                <a:cs typeface="Arial Black"/>
              </a:rPr>
              <a:t>Zero</a:t>
            </a:r>
            <a:r>
              <a:rPr sz="1800" spc="-135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80" dirty="0">
                <a:solidFill>
                  <a:srgbClr val="0F172A"/>
                </a:solidFill>
                <a:latin typeface="Arial Black"/>
                <a:cs typeface="Arial Black"/>
              </a:rPr>
              <a:t>Hardware</a:t>
            </a:r>
            <a:r>
              <a:rPr sz="1800" spc="-130" dirty="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0F172A"/>
                </a:solidFill>
                <a:latin typeface="Arial Black"/>
                <a:cs typeface="Arial Black"/>
              </a:rPr>
              <a:t>Downtime</a:t>
            </a:r>
            <a:endParaRPr sz="1800">
              <a:latin typeface="Arial Black"/>
              <a:cs typeface="Arial Black"/>
            </a:endParaRPr>
          </a:p>
          <a:p>
            <a:pPr marL="12700" marR="5080" algn="just">
              <a:lnSpc>
                <a:spcPct val="150000"/>
              </a:lnSpc>
              <a:spcBef>
                <a:spcPts val="570"/>
              </a:spcBef>
            </a:pP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By</a:t>
            </a:r>
            <a:r>
              <a:rPr sz="1350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conducting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full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software-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in-</a:t>
            </a:r>
            <a:r>
              <a:rPr sz="1350" spc="-75" dirty="0">
                <a:solidFill>
                  <a:srgbClr val="334155"/>
                </a:solidFill>
                <a:latin typeface="Roboto"/>
                <a:cs typeface="Roboto"/>
              </a:rPr>
              <a:t>the-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loop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(SIL)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testing</a:t>
            </a:r>
            <a:r>
              <a:rPr sz="1350" spc="-1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with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334155"/>
                </a:solidFill>
                <a:latin typeface="Roboto"/>
                <a:cs typeface="Roboto"/>
              </a:rPr>
              <a:t>S7-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PLCSIM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34155"/>
                </a:solidFill>
                <a:latin typeface="Roboto"/>
                <a:cs typeface="Roboto"/>
              </a:rPr>
              <a:t>I/O,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control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logic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bugs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edge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cases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are</a:t>
            </a:r>
            <a:r>
              <a:rPr sz="135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resolved</a:t>
            </a:r>
            <a:r>
              <a:rPr sz="1350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prior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physical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implementation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34155"/>
                </a:solidFill>
                <a:latin typeface="Roboto"/>
                <a:cs typeface="Roboto"/>
              </a:rPr>
              <a:t>on</a:t>
            </a:r>
            <a:r>
              <a:rPr sz="1350" spc="-3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34155"/>
                </a:solidFill>
                <a:latin typeface="Roboto"/>
                <a:cs typeface="Roboto"/>
              </a:rPr>
              <a:t>site.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Performance</a:t>
            </a:r>
            <a:r>
              <a:rPr spc="-305" dirty="0"/>
              <a:t> </a:t>
            </a:r>
            <a:r>
              <a:rPr spc="-265" dirty="0"/>
              <a:t>&amp;</a:t>
            </a:r>
            <a:r>
              <a:rPr spc="-295" dirty="0"/>
              <a:t> </a:t>
            </a:r>
            <a:r>
              <a:rPr spc="-110" dirty="0"/>
              <a:t>Precision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285875"/>
            <a:ext cx="11048999" cy="50958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49756" y="4800091"/>
            <a:ext cx="16871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Virtual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commissioning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5303" y="4892167"/>
            <a:ext cx="120650" cy="920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78035" y="4800091"/>
            <a:ext cx="21971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ith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5" dirty="0">
                <a:solidFill>
                  <a:srgbClr val="334155"/>
                </a:solidFill>
                <a:latin typeface="Roboto"/>
                <a:cs typeface="Roboto"/>
              </a:rPr>
              <a:t>Factory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I/O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dramatically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5" dirty="0">
                <a:solidFill>
                  <a:srgbClr val="334155"/>
                </a:solidFill>
                <a:latin typeface="Roboto"/>
                <a:cs typeface="Roboto"/>
              </a:rPr>
              <a:t>lo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1619" y="4892167"/>
            <a:ext cx="120650" cy="920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74480" y="4800091"/>
            <a:ext cx="53543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ers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5" dirty="0">
                <a:solidFill>
                  <a:srgbClr val="334155"/>
                </a:solidFill>
                <a:latin typeface="Roboto"/>
                <a:cs typeface="Roboto"/>
              </a:rPr>
              <a:t>deployment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risk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20" dirty="0">
                <a:solidFill>
                  <a:srgbClr val="334155"/>
                </a:solidFill>
                <a:latin typeface="Roboto"/>
                <a:cs typeface="Roboto"/>
              </a:rPr>
              <a:t>and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dramatically 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speeds</a:t>
            </a:r>
            <a:r>
              <a:rPr sz="1350" i="1" spc="-4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up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code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30" dirty="0">
                <a:solidFill>
                  <a:srgbClr val="334155"/>
                </a:solidFill>
                <a:latin typeface="Roboto"/>
                <a:cs typeface="Roboto"/>
              </a:rPr>
              <a:t>veriﬁcation</a:t>
            </a:r>
            <a:r>
              <a:rPr sz="1350" i="1" spc="-4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350" i="1" spc="-10" dirty="0">
                <a:solidFill>
                  <a:srgbClr val="334155"/>
                </a:solidFill>
                <a:latin typeface="Roboto"/>
                <a:cs typeface="Roboto"/>
              </a:rPr>
              <a:t>cycles.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Virtual</a:t>
            </a:r>
            <a:r>
              <a:rPr spc="-285" dirty="0"/>
              <a:t> </a:t>
            </a:r>
            <a:r>
              <a:rPr spc="-75" dirty="0"/>
              <a:t>vs</a:t>
            </a:r>
            <a:r>
              <a:rPr spc="-285" dirty="0"/>
              <a:t> </a:t>
            </a:r>
            <a:r>
              <a:rPr spc="-100" dirty="0"/>
              <a:t>Physical</a:t>
            </a:r>
            <a:r>
              <a:rPr spc="-285" dirty="0"/>
              <a:t> </a:t>
            </a:r>
            <a:r>
              <a:rPr spc="-60" dirty="0"/>
              <a:t>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8921" y="3553688"/>
            <a:ext cx="7237730" cy="451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75" spc="517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a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safe,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visual,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spc="277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and</a:t>
            </a:r>
            <a:r>
              <a:rPr sz="4275" spc="-75" baseline="-24366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4275" spc="-15" baseline="-24366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hi</a:t>
            </a:r>
            <a:r>
              <a:rPr sz="4275" spc="-2310" baseline="-24366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g</a:t>
            </a:r>
            <a:r>
              <a:rPr sz="1200" b="1" spc="-10" dirty="0">
                <a:solidFill>
                  <a:srgbClr val="0284C7"/>
                </a:solidFill>
                <a:latin typeface="Roboto"/>
                <a:cs typeface="Roboto"/>
              </a:rPr>
              <a:t>—</a:t>
            </a:r>
            <a:r>
              <a:rPr lang="en-US" sz="1200" b="1" spc="45" dirty="0">
                <a:solidFill>
                  <a:srgbClr val="0284C7"/>
                </a:solidFill>
                <a:latin typeface="Roboto"/>
                <a:cs typeface="Roboto"/>
              </a:rPr>
              <a:t>  </a:t>
            </a:r>
            <a:endParaRPr sz="12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0" y="3670951"/>
            <a:ext cx="6986055" cy="451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50" spc="55" dirty="0" err="1">
                <a:solidFill>
                  <a:srgbClr val="0F172A"/>
                </a:solidFill>
                <a:latin typeface="Lucida Sans Unicode"/>
                <a:cs typeface="Lucida Sans Unicode"/>
              </a:rPr>
              <a:t>hly</a:t>
            </a:r>
            <a:r>
              <a:rPr lang="en-US" sz="2850" spc="55" dirty="0">
                <a:solidFill>
                  <a:srgbClr val="0F172A"/>
                </a:solidFill>
                <a:latin typeface="Lucida Sans Unicode"/>
                <a:cs typeface="Lucida Sans Unicode"/>
              </a:rPr>
              <a:t> deterministic e</a:t>
            </a:r>
            <a:r>
              <a:rPr sz="2850" spc="55" dirty="0">
                <a:solidFill>
                  <a:srgbClr val="0F172A"/>
                </a:solidFill>
                <a:latin typeface="Lucida Sans Unicode"/>
                <a:cs typeface="Lucida Sans Unicode"/>
              </a:rPr>
              <a:t>ngineering</a:t>
            </a:r>
            <a:r>
              <a:rPr sz="2850" spc="-12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45" dirty="0">
                <a:solidFill>
                  <a:srgbClr val="0F172A"/>
                </a:solidFill>
                <a:latin typeface="Lucida Sans Unicode"/>
                <a:cs typeface="Lucida Sans Unicode"/>
              </a:rPr>
              <a:t>process.</a:t>
            </a:r>
            <a:endParaRPr sz="285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5958" y="4296569"/>
            <a:ext cx="39141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2260" marR="5080" indent="-1560195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0284C7"/>
                </a:solidFill>
                <a:latin typeface="Roboto"/>
                <a:cs typeface="Roboto"/>
              </a:rPr>
              <a:t>—</a:t>
            </a:r>
            <a:r>
              <a:rPr sz="1650" b="1" spc="-75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Industrial</a:t>
            </a:r>
            <a:r>
              <a:rPr sz="1650" b="1" spc="-70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Automation</a:t>
            </a:r>
            <a:r>
              <a:rPr sz="1650" b="1" spc="-70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dirty="0">
                <a:solidFill>
                  <a:srgbClr val="0284C7"/>
                </a:solidFill>
                <a:latin typeface="Roboto"/>
                <a:cs typeface="Roboto"/>
              </a:rPr>
              <a:t>Engineering</a:t>
            </a:r>
            <a:r>
              <a:rPr sz="1650" b="1" spc="-75" dirty="0">
                <a:solidFill>
                  <a:srgbClr val="0284C7"/>
                </a:solidFill>
                <a:latin typeface="Roboto"/>
                <a:cs typeface="Roboto"/>
              </a:rPr>
              <a:t> </a:t>
            </a:r>
            <a:r>
              <a:rPr sz="1650" b="1" spc="-20" dirty="0">
                <a:solidFill>
                  <a:srgbClr val="0284C7"/>
                </a:solidFill>
                <a:latin typeface="Roboto"/>
                <a:cs typeface="Roboto"/>
              </a:rPr>
              <a:t>Best </a:t>
            </a:r>
            <a:r>
              <a:rPr sz="1650" b="1" spc="-10" dirty="0">
                <a:solidFill>
                  <a:srgbClr val="0284C7"/>
                </a:solidFill>
                <a:latin typeface="Roboto"/>
                <a:cs typeface="Roboto"/>
              </a:rPr>
              <a:t>Practice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2400" y="2303619"/>
            <a:ext cx="114611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0" baseline="7716" dirty="0">
                <a:solidFill>
                  <a:srgbClr val="BAE6FC"/>
                </a:solidFill>
                <a:latin typeface="Lucida Sans Unicode"/>
                <a:cs typeface="Lucida Sans Unicode"/>
              </a:rPr>
              <a:t>"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Digital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twin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70" dirty="0">
                <a:solidFill>
                  <a:srgbClr val="0F172A"/>
                </a:solidFill>
                <a:latin typeface="Lucida Sans Unicode"/>
                <a:cs typeface="Lucida Sans Unicode"/>
              </a:rPr>
              <a:t>simulation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turns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65" dirty="0">
                <a:solidFill>
                  <a:srgbClr val="0F172A"/>
                </a:solidFill>
                <a:latin typeface="Lucida Sans Unicode"/>
                <a:cs typeface="Lucida Sans Unicode"/>
              </a:rPr>
              <a:t>complex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dirty="0">
                <a:solidFill>
                  <a:srgbClr val="0F172A"/>
                </a:solidFill>
                <a:latin typeface="Lucida Sans Unicode"/>
                <a:cs typeface="Lucida Sans Unicode"/>
              </a:rPr>
              <a:t>PLC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120" dirty="0">
                <a:solidFill>
                  <a:srgbClr val="0F172A"/>
                </a:solidFill>
                <a:latin typeface="Lucida Sans Unicode"/>
                <a:cs typeface="Lucida Sans Unicode"/>
              </a:rPr>
              <a:t>programming</a:t>
            </a:r>
            <a:r>
              <a:rPr sz="2850" spc="-105" dirty="0">
                <a:solidFill>
                  <a:srgbClr val="0F172A"/>
                </a:solidFill>
                <a:latin typeface="Lucida Sans Unicode"/>
                <a:cs typeface="Lucida Sans Unicode"/>
              </a:rPr>
              <a:t> </a:t>
            </a:r>
            <a:r>
              <a:rPr sz="2850" spc="-20" dirty="0">
                <a:solidFill>
                  <a:srgbClr val="0F172A"/>
                </a:solidFill>
                <a:latin typeface="Lucida Sans Unicode"/>
                <a:cs typeface="Lucida Sans Unicode"/>
              </a:rPr>
              <a:t>into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800" y="449834"/>
            <a:ext cx="349122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5" dirty="0">
                <a:solidFill>
                  <a:srgbClr val="0368A1"/>
                </a:solidFill>
                <a:latin typeface="Arial Black"/>
                <a:cs typeface="Arial Black"/>
              </a:rPr>
              <a:t>Engineering</a:t>
            </a:r>
            <a:r>
              <a:rPr sz="2700" spc="-229" dirty="0">
                <a:solidFill>
                  <a:srgbClr val="0368A1"/>
                </a:solidFill>
                <a:latin typeface="Arial Black"/>
                <a:cs typeface="Arial Black"/>
              </a:rPr>
              <a:t> </a:t>
            </a:r>
            <a:r>
              <a:rPr sz="2700" spc="-20" dirty="0">
                <a:solidFill>
                  <a:srgbClr val="0368A1"/>
                </a:solidFill>
                <a:latin typeface="Arial Black"/>
                <a:cs typeface="Arial Black"/>
              </a:rPr>
              <a:t>Impact</a:t>
            </a:r>
            <a:endParaRPr sz="2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04" dirty="0"/>
              <a:t>Questions</a:t>
            </a:r>
            <a:r>
              <a:rPr sz="5400" spc="-630" dirty="0"/>
              <a:t> </a:t>
            </a:r>
            <a:r>
              <a:rPr sz="5400" spc="-530" dirty="0"/>
              <a:t>&amp;</a:t>
            </a:r>
            <a:r>
              <a:rPr sz="5400" spc="-625" dirty="0"/>
              <a:t> </a:t>
            </a:r>
            <a:r>
              <a:rPr sz="5400" spc="-175" dirty="0"/>
              <a:t>Discussion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173337" y="3227133"/>
            <a:ext cx="58413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4285" marR="5080" indent="-2522220">
              <a:lnSpc>
                <a:spcPct val="1500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334155"/>
                </a:solidFill>
                <a:latin typeface="Roboto"/>
                <a:cs typeface="Roboto"/>
              </a:rPr>
              <a:t>                            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Thank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you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334155"/>
                </a:solidFill>
                <a:latin typeface="Roboto"/>
                <a:cs typeface="Roboto"/>
              </a:rPr>
              <a:t>for</a:t>
            </a:r>
            <a:r>
              <a:rPr sz="18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lang="en-US" sz="1800" spc="-20" dirty="0">
                <a:solidFill>
                  <a:srgbClr val="334155"/>
                </a:solidFill>
                <a:latin typeface="Roboto"/>
                <a:cs typeface="Roboto"/>
              </a:rPr>
              <a:t>attention</a:t>
            </a:r>
            <a:r>
              <a:rPr sz="1800" spc="-10" dirty="0">
                <a:solidFill>
                  <a:srgbClr val="334155"/>
                </a:solidFill>
                <a:latin typeface="Roboto"/>
                <a:cs typeface="Roboto"/>
              </a:rPr>
              <a:t>!</a:t>
            </a:r>
            <a:endParaRPr sz="18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6474" y="3829062"/>
            <a:ext cx="7439025" cy="9525"/>
          </a:xfrm>
          <a:custGeom>
            <a:avLst/>
            <a:gdLst/>
            <a:ahLst/>
            <a:cxnLst/>
            <a:rect l="l" t="t" r="r" b="b"/>
            <a:pathLst>
              <a:path w="7439025" h="9525">
                <a:moveTo>
                  <a:pt x="7439025" y="0"/>
                </a:moveTo>
                <a:lnTo>
                  <a:pt x="0" y="0"/>
                </a:lnTo>
                <a:lnTo>
                  <a:pt x="0" y="9525"/>
                </a:lnTo>
                <a:lnTo>
                  <a:pt x="7439025" y="9525"/>
                </a:lnTo>
                <a:lnTo>
                  <a:pt x="7439025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6487" y="3209925"/>
            <a:ext cx="857249" cy="476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6487" y="3981450"/>
            <a:ext cx="857249" cy="476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21062" y="3131465"/>
            <a:ext cx="6412230" cy="18389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4"/>
              </a:rPr>
              <a:t>https://assets.rexroth.mam.bosch.tech/assets/api/acbcfafd-</a:t>
            </a:r>
            <a:r>
              <a:rPr sz="950" spc="-25" dirty="0">
                <a:solidFill>
                  <a:srgbClr val="334155"/>
                </a:solidFill>
                <a:latin typeface="Roboto"/>
                <a:cs typeface="Roboto"/>
                <a:hlinkClick r:id="rId4"/>
              </a:rPr>
              <a:t>4781-4241-ad24-</a:t>
            </a: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4"/>
              </a:rPr>
              <a:t>6decaab9b398/dc_ecommerce_big_j</a:t>
            </a:r>
            <a:endParaRPr sz="95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425" spc="-839" baseline="17543" dirty="0">
                <a:solidFill>
                  <a:srgbClr val="334155"/>
                </a:solidFill>
                <a:latin typeface="Roboto"/>
                <a:cs typeface="Roboto"/>
              </a:rPr>
              <a:t>p</a:t>
            </a:r>
            <a:r>
              <a:rPr sz="1200" spc="-195" dirty="0">
                <a:solidFill>
                  <a:srgbClr val="334155"/>
                </a:solidFill>
                <a:latin typeface="Roboto"/>
                <a:cs typeface="Roboto"/>
              </a:rPr>
              <a:t>S</a:t>
            </a:r>
            <a:r>
              <a:rPr sz="1425" spc="-600" baseline="17543" dirty="0">
                <a:solidFill>
                  <a:srgbClr val="334155"/>
                </a:solidFill>
                <a:latin typeface="Roboto"/>
                <a:cs typeface="Roboto"/>
              </a:rPr>
              <a:t>g</a:t>
            </a:r>
            <a:r>
              <a:rPr sz="1200" spc="-25" dirty="0">
                <a:solidFill>
                  <a:srgbClr val="334155"/>
                </a:solidFill>
                <a:latin typeface="Roboto"/>
                <a:cs typeface="Roboto"/>
              </a:rPr>
              <a:t>ou</a:t>
            </a:r>
            <a:r>
              <a:rPr sz="1200" spc="-35" dirty="0">
                <a:solidFill>
                  <a:srgbClr val="334155"/>
                </a:solidFill>
                <a:latin typeface="Roboto"/>
                <a:cs typeface="Roboto"/>
              </a:rPr>
              <a:t>r</a:t>
            </a:r>
            <a:r>
              <a:rPr sz="1200" spc="-20" dirty="0">
                <a:solidFill>
                  <a:srgbClr val="334155"/>
                </a:solidFill>
                <a:latin typeface="Roboto"/>
                <a:cs typeface="Roboto"/>
              </a:rPr>
              <a:t>ce</a:t>
            </a:r>
            <a:r>
              <a:rPr sz="1200" spc="-15" dirty="0">
                <a:solidFill>
                  <a:srgbClr val="334155"/>
                </a:solidFill>
                <a:latin typeface="Roboto"/>
                <a:cs typeface="Roboto"/>
              </a:rPr>
              <a:t>:</a:t>
            </a:r>
            <a:r>
              <a:rPr sz="1200" spc="65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Roboto"/>
                <a:cs typeface="Roboto"/>
                <a:hlinkClick r:id="rId5"/>
              </a:rPr>
              <a:t>www.boschrexroth.com</a:t>
            </a:r>
            <a:endParaRPr sz="12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20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6"/>
              </a:rPr>
              <a:t>https://cdn.automationforum.co/uploads/2023/08/tia-</a:t>
            </a:r>
            <a:r>
              <a:rPr sz="950" spc="-20" dirty="0">
                <a:solidFill>
                  <a:srgbClr val="334155"/>
                </a:solidFill>
                <a:latin typeface="Roboto"/>
                <a:cs typeface="Roboto"/>
                <a:hlinkClick r:id="rId6"/>
              </a:rPr>
              <a:t>portal-</a:t>
            </a:r>
            <a:r>
              <a:rPr sz="950" spc="-25" dirty="0">
                <a:solidFill>
                  <a:srgbClr val="334155"/>
                </a:solidFill>
                <a:latin typeface="Roboto"/>
                <a:cs typeface="Roboto"/>
                <a:hlinkClick r:id="rId6"/>
              </a:rPr>
              <a:t>21-</a:t>
            </a:r>
            <a:r>
              <a:rPr sz="950" spc="-10" dirty="0">
                <a:solidFill>
                  <a:srgbClr val="334155"/>
                </a:solidFill>
                <a:latin typeface="Roboto"/>
                <a:cs typeface="Roboto"/>
                <a:hlinkClick r:id="rId6"/>
              </a:rPr>
              <a:t>scaled.jpg</a:t>
            </a:r>
            <a:endParaRPr sz="950" dirty="0"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solidFill>
                  <a:srgbClr val="334155"/>
                </a:solidFill>
                <a:latin typeface="Roboto"/>
                <a:cs typeface="Roboto"/>
              </a:rPr>
              <a:t>Source:</a:t>
            </a:r>
            <a:r>
              <a:rPr sz="1200" spc="-50" dirty="0">
                <a:solidFill>
                  <a:srgbClr val="334155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F46E4"/>
                </a:solidFill>
                <a:latin typeface="Roboto"/>
                <a:cs typeface="Roboto"/>
              </a:rPr>
              <a:t>automationforum.co</a:t>
            </a:r>
            <a:r>
              <a:rPr lang="en-US" sz="1200" spc="-10" dirty="0">
                <a:solidFill>
                  <a:srgbClr val="4F46E4"/>
                </a:solidFill>
                <a:latin typeface="Roboto"/>
                <a:cs typeface="Roboto"/>
              </a:rPr>
              <a:t>m</a:t>
            </a: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lang="en-US" sz="1200" spc="-10" dirty="0">
                <a:solidFill>
                  <a:srgbClr val="4F46E4"/>
                </a:solidFill>
                <a:latin typeface="Roboto"/>
                <a:cs typeface="Roboto"/>
                <a:hlinkClick r:id="rId7"/>
              </a:rPr>
              <a:t>https://factoryio.com/</a:t>
            </a:r>
            <a:endParaRPr lang="en-US" sz="1200" spc="-10" dirty="0">
              <a:solidFill>
                <a:srgbClr val="4F46E4"/>
              </a:solidFill>
              <a:latin typeface="Roboto"/>
              <a:cs typeface="Roboto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</a:pPr>
            <a:endParaRPr lang="en-US" sz="1200" spc="-10" dirty="0">
              <a:solidFill>
                <a:srgbClr val="4F46E4"/>
              </a:solidFill>
              <a:latin typeface="Roboto"/>
              <a:cs typeface="Roboto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58800" y="449834"/>
            <a:ext cx="26568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Image</a:t>
            </a:r>
            <a:r>
              <a:rPr spc="-290" dirty="0"/>
              <a:t> </a:t>
            </a:r>
            <a:r>
              <a:rPr spc="-114" dirty="0"/>
              <a:t>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592</Words>
  <Application>Microsoft Office PowerPoint</Application>
  <PresentationFormat>Широкоэкранный</PresentationFormat>
  <Paragraphs>78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 Black</vt:lpstr>
      <vt:lpstr>Calibri</vt:lpstr>
      <vt:lpstr>Lucida Sans Unicode</vt:lpstr>
      <vt:lpstr>Roboto</vt:lpstr>
      <vt:lpstr>Office Theme</vt:lpstr>
      <vt:lpstr>Assembly Unit Control System PLC S7-300 Implementation &amp; 3D Digital Twin Simulation in TIA Portal V20 and Factory I/O</vt:lpstr>
      <vt:lpstr>System Overview &amp; Goals Designing and validating an end-to-end automated assembly line using digital twin technology before hardware deployment.</vt:lpstr>
      <vt:lpstr>Key Software &amp; Hardware</vt:lpstr>
      <vt:lpstr>Factory I/O Assembly Cell</vt:lpstr>
      <vt:lpstr>Core System Architecture</vt:lpstr>
      <vt:lpstr>I/O Signal Mapping</vt:lpstr>
      <vt:lpstr>Sequence of Operations</vt:lpstr>
      <vt:lpstr>PLC Logic in TIA Portal</vt:lpstr>
      <vt:lpstr>Performance &amp; Precision</vt:lpstr>
      <vt:lpstr>Virtual vs Physical Setup</vt:lpstr>
      <vt:lpstr>"Digital twin simulation turns complex PLC programming into</vt:lpstr>
      <vt:lpstr>Questions &amp; Discussion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IO Assembly Unit S7-300 Presentation</dc:title>
  <cp:lastModifiedBy>Ainur Azamatkyzy</cp:lastModifiedBy>
  <cp:revision>1</cp:revision>
  <dcterms:created xsi:type="dcterms:W3CDTF">2026-07-28T09:46:42Z</dcterms:created>
  <dcterms:modified xsi:type="dcterms:W3CDTF">2026-07-28T09:53:55Z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2026-07-28T00:00:00Z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2026-07-28T00:00:00Z</vt:filetime>
  </property>
</Properties>
</file>